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9575" cx="121904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1">
          <p15:clr>
            <a:srgbClr val="A4A3A4"/>
          </p15:clr>
        </p15:guide>
        <p15:guide id="2" pos="148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1" orient="horz"/>
        <p:guide pos="1481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075" y="744538"/>
            <a:ext cx="6613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914281" y="2130920"/>
            <a:ext cx="10361851" cy="1470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828562" y="3887100"/>
            <a:ext cx="8533289" cy="17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2959" y="4407922"/>
            <a:ext cx="10361851" cy="1362390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2959" y="2907387"/>
            <a:ext cx="10361851" cy="1500534"/>
          </a:xfrm>
          <a:prstGeom prst="rect">
            <a:avLst/>
          </a:prstGeom>
          <a:noFill/>
          <a:ln>
            <a:noFill/>
          </a:ln>
        </p:spPr>
        <p:txBody>
          <a:bodyPr anchorCtr="0" anchor="b" bIns="51950" lIns="103900" spcFirstLastPara="1" rIns="103900" wrap="square" tIns="51950">
            <a:normAutofit/>
          </a:bodyPr>
          <a:lstStyle>
            <a:lvl1pPr indent="-228600" lvl="0" marL="4572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521" y="1600572"/>
            <a:ext cx="5384099" cy="4527011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74650" lvl="2" marL="1371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6793" y="1600572"/>
            <a:ext cx="5384099" cy="4527011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74650" lvl="2" marL="1371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521" y="1535469"/>
            <a:ext cx="5386216" cy="639910"/>
          </a:xfrm>
          <a:prstGeom prst="rect">
            <a:avLst/>
          </a:prstGeom>
          <a:noFill/>
          <a:ln>
            <a:noFill/>
          </a:ln>
        </p:spPr>
        <p:txBody>
          <a:bodyPr anchorCtr="0" anchor="b" bIns="51950" lIns="103900" spcFirstLastPara="1" rIns="103900" wrap="square" tIns="51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521" y="2175379"/>
            <a:ext cx="5386216" cy="3952203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7465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2561" y="1535469"/>
            <a:ext cx="5388332" cy="639910"/>
          </a:xfrm>
          <a:prstGeom prst="rect">
            <a:avLst/>
          </a:prstGeom>
          <a:noFill/>
          <a:ln>
            <a:noFill/>
          </a:ln>
        </p:spPr>
        <p:txBody>
          <a:bodyPr anchorCtr="0" anchor="b" bIns="51950" lIns="103900" spcFirstLastPara="1" rIns="103900" wrap="square" tIns="51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2561" y="2175379"/>
            <a:ext cx="5388332" cy="3952203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7465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521" y="273113"/>
            <a:ext cx="4010562" cy="1162319"/>
          </a:xfrm>
          <a:prstGeom prst="rect">
            <a:avLst/>
          </a:prstGeom>
          <a:noFill/>
          <a:ln>
            <a:noFill/>
          </a:ln>
        </p:spPr>
        <p:txBody>
          <a:bodyPr anchorCtr="0" anchor="b" bIns="51950" lIns="103900" spcFirstLastPara="1" rIns="103900" wrap="square" tIns="51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algun Gothic"/>
              <a:buNone/>
              <a:defRPr b="1"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114" y="273115"/>
            <a:ext cx="6814779" cy="5854468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74650" lvl="3" marL="1828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indent="-374650" lvl="4" marL="22860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»"/>
              <a:defRPr sz="2300"/>
            </a:lvl5pPr>
            <a:lvl6pPr indent="-374650" lvl="5" marL="2743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6pPr>
            <a:lvl7pPr indent="-374650" lvl="6" marL="3200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7pPr>
            <a:lvl8pPr indent="-374650" lvl="7" marL="36576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8pPr>
            <a:lvl9pPr indent="-374650" lvl="8" marL="41148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521" y="1435434"/>
            <a:ext cx="4010562" cy="4692149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406" y="4801712"/>
            <a:ext cx="7314248" cy="566869"/>
          </a:xfrm>
          <a:prstGeom prst="rect">
            <a:avLst/>
          </a:prstGeom>
          <a:noFill/>
          <a:ln>
            <a:noFill/>
          </a:ln>
        </p:spPr>
        <p:txBody>
          <a:bodyPr anchorCtr="0" anchor="b" bIns="51950" lIns="103900" spcFirstLastPara="1" rIns="103900" wrap="square" tIns="51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algun Gothic"/>
              <a:buNone/>
              <a:defRPr b="1"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406" y="612917"/>
            <a:ext cx="7314248" cy="411575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406" y="5368581"/>
            <a:ext cx="7314248" cy="805048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1702" y="-1621608"/>
            <a:ext cx="4527011" cy="10971372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3031" y="1829722"/>
            <a:ext cx="5852880" cy="2742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5759" y="-811535"/>
            <a:ext cx="5852880" cy="80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algun Gothic"/>
              <a:buNone/>
              <a:defRPr b="0" i="0" sz="5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  <a:noFill/>
          <a:ln>
            <a:noFill/>
          </a:ln>
        </p:spPr>
        <p:txBody>
          <a:bodyPr anchorCtr="0" anchor="t" bIns="51950" lIns="103900" spcFirstLastPara="1" rIns="103900" wrap="square" tIns="51950">
            <a:norm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31800" lvl="1" marL="914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74650" lvl="3" marL="18288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74650" lvl="4" marL="22860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»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74650" lvl="5" marL="27432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74650" lvl="6" marL="32004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74650" lvl="7" marL="36576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74650" lvl="8" marL="4114800" marR="0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520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058" y="6357823"/>
            <a:ext cx="3860297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6463" y="6357823"/>
            <a:ext cx="2844430" cy="365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50" lIns="103900" spcFirstLastPara="1" rIns="103900" wrap="square" tIns="51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991422" y="2419610"/>
            <a:ext cx="7904721" cy="2751265"/>
          </a:xfrm>
          <a:prstGeom prst="roundRect">
            <a:avLst>
              <a:gd fmla="val 1277" name="adj"/>
            </a:avLst>
          </a:prstGeom>
          <a:solidFill>
            <a:srgbClr val="DAE5F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950" lIns="26950" spcFirstLastPara="1" rIns="26950" wrap="square" tIns="26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2006761" y="927245"/>
            <a:ext cx="7904722" cy="1125117"/>
          </a:xfrm>
          <a:prstGeom prst="roundRect">
            <a:avLst>
              <a:gd fmla="val 2796" name="adj"/>
            </a:avLst>
          </a:prstGeom>
          <a:solidFill>
            <a:srgbClr val="DAE5F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950" lIns="26950" spcFirstLastPara="1" rIns="26950" wrap="square" tIns="26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5849743" y="3252429"/>
            <a:ext cx="224205" cy="4190118"/>
          </a:xfrm>
          <a:prstGeom prst="homePlate">
            <a:avLst>
              <a:gd fmla="val 98269" name="adj"/>
            </a:avLst>
          </a:prstGeom>
          <a:gradFill>
            <a:gsLst>
              <a:gs pos="0">
                <a:srgbClr val="7F7F7F"/>
              </a:gs>
              <a:gs pos="66000">
                <a:srgbClr val="DCDCDC"/>
              </a:gs>
              <a:gs pos="100000">
                <a:srgbClr val="EDEDED"/>
              </a:gs>
            </a:gsLst>
            <a:lin ang="10800000" scaled="0"/>
          </a:gra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2006695" y="5497839"/>
            <a:ext cx="7904722" cy="1036369"/>
          </a:xfrm>
          <a:prstGeom prst="roundRect">
            <a:avLst>
              <a:gd fmla="val 4273" name="adj"/>
            </a:avLst>
          </a:prstGeom>
          <a:solidFill>
            <a:srgbClr val="DAE5F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950" lIns="26950" spcFirstLastPara="1" rIns="26950" wrap="square" tIns="26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34001" y="927248"/>
            <a:ext cx="877168" cy="5606962"/>
          </a:xfrm>
          <a:prstGeom prst="roundRect">
            <a:avLst>
              <a:gd fmla="val 5500" name="adj"/>
            </a:avLst>
          </a:prstGeom>
          <a:solidFill>
            <a:srgbClr val="D6E3BC"/>
          </a:solidFill>
          <a:ln cap="flat" cmpd="sng" w="9525">
            <a:solidFill>
              <a:srgbClr val="8092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950" lIns="26950" spcFirstLastPara="1" rIns="26950" wrap="square" tIns="26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0212523" y="924667"/>
            <a:ext cx="877268" cy="5609541"/>
          </a:xfrm>
          <a:prstGeom prst="roundRect">
            <a:avLst>
              <a:gd fmla="val 4273" name="adj"/>
            </a:avLst>
          </a:prstGeom>
          <a:solidFill>
            <a:srgbClr val="D6E3BC"/>
          </a:solidFill>
          <a:ln cap="flat" cmpd="sng" w="9525">
            <a:solidFill>
              <a:srgbClr val="8092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950" lIns="26950" spcFirstLastPara="1" rIns="26950" wrap="square" tIns="26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5" name="Google Shape;95;p13"/>
          <p:cNvGrpSpPr/>
          <p:nvPr/>
        </p:nvGrpSpPr>
        <p:grpSpPr>
          <a:xfrm>
            <a:off x="731844" y="2530618"/>
            <a:ext cx="1040911" cy="2759524"/>
            <a:chOff x="700461" y="2132175"/>
            <a:chExt cx="708932" cy="2571931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700461" y="2132175"/>
              <a:ext cx="708924" cy="43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91400" spcFirstLastPara="1" rIns="91400" wrap="square" tIns="456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조직</a:t>
              </a:r>
              <a:endParaRPr b="1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22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700466" y="3117711"/>
              <a:ext cx="708924" cy="43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91400" spcFirstLastPara="1" rIns="91400" wrap="square" tIns="456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1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22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요구사항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700469" y="4271013"/>
              <a:ext cx="708924" cy="43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91400" spcFirstLastPara="1" rIns="91400" wrap="square" tIns="456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이해관계자</a:t>
              </a:r>
              <a:endParaRPr b="1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22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니즈/기대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3"/>
          <p:cNvGrpSpPr/>
          <p:nvPr/>
        </p:nvGrpSpPr>
        <p:grpSpPr>
          <a:xfrm>
            <a:off x="10252314" y="2530616"/>
            <a:ext cx="823526" cy="2759527"/>
            <a:chOff x="-1026953" y="2132173"/>
            <a:chExt cx="560877" cy="2571932"/>
          </a:xfrm>
        </p:grpSpPr>
        <p:sp>
          <p:nvSpPr>
            <p:cNvPr id="100" name="Google Shape;100;p13"/>
            <p:cNvSpPr txBox="1"/>
            <p:nvPr/>
          </p:nvSpPr>
          <p:spPr>
            <a:xfrm>
              <a:off x="-1026953" y="2132173"/>
              <a:ext cx="560876" cy="43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91400" spcFirstLastPara="1" rIns="91400" wrap="square" tIns="456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QMS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22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-1026952" y="3117707"/>
              <a:ext cx="560876" cy="43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91400" spcFirstLastPara="1" rIns="91400" wrap="square" tIns="456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1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22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-1026952" y="4271012"/>
              <a:ext cx="560876" cy="43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675" lIns="91400" spcFirstLastPara="1" rIns="91400" wrap="square" tIns="456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제품 및</a:t>
              </a:r>
              <a:endParaRPr b="1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220"/>
                </a:spcBef>
                <a:spcAft>
                  <a:spcPts val="0"/>
                </a:spcAft>
                <a:buNone/>
              </a:pPr>
              <a:r>
                <a:rPr b="1" i="0" lang="ko-KR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서비스</a:t>
              </a:r>
              <a:endParaRPr b="1" i="0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3" name="Google Shape;103;p13"/>
          <p:cNvSpPr/>
          <p:nvPr/>
        </p:nvSpPr>
        <p:spPr>
          <a:xfrm>
            <a:off x="9143579" y="962948"/>
            <a:ext cx="706629" cy="209150"/>
          </a:xfrm>
          <a:prstGeom prst="roundRect">
            <a:avLst>
              <a:gd fmla="val 33894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0000">
              <a:srgbClr val="000000">
                <a:alpha val="37255"/>
              </a:srgbClr>
            </a:outerShdw>
          </a:effectLst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1740266" y="2368216"/>
            <a:ext cx="251156" cy="3061905"/>
          </a:xfrm>
          <a:prstGeom prst="homePlate">
            <a:avLst>
              <a:gd fmla="val 98269" name="adj"/>
            </a:avLst>
          </a:prstGeom>
          <a:gradFill>
            <a:gsLst>
              <a:gs pos="0">
                <a:srgbClr val="7F7F7F"/>
              </a:gs>
              <a:gs pos="66000">
                <a:srgbClr val="DCDCDC"/>
              </a:gs>
              <a:gs pos="100000">
                <a:srgbClr val="EDEDED"/>
              </a:gs>
            </a:gsLst>
            <a:lin ang="10800000" scaled="0"/>
          </a:gra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9942296" y="2365635"/>
            <a:ext cx="251156" cy="3061905"/>
          </a:xfrm>
          <a:prstGeom prst="homePlate">
            <a:avLst>
              <a:gd fmla="val 98269" name="adj"/>
            </a:avLst>
          </a:prstGeom>
          <a:gradFill>
            <a:gsLst>
              <a:gs pos="0">
                <a:srgbClr val="7F7F7F"/>
              </a:gs>
              <a:gs pos="66000">
                <a:srgbClr val="DCDCDC"/>
              </a:gs>
              <a:gs pos="100000">
                <a:srgbClr val="EDEDED"/>
              </a:gs>
            </a:gsLst>
            <a:lin ang="10800000" scaled="0"/>
          </a:gra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120938" y="5502294"/>
            <a:ext cx="706629" cy="209150"/>
          </a:xfrm>
          <a:prstGeom prst="roundRect">
            <a:avLst>
              <a:gd fmla="val 27854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0000">
              <a:srgbClr val="000000">
                <a:alpha val="37255"/>
              </a:srgbClr>
            </a:outerShdw>
          </a:effectLst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398794" y="142951"/>
            <a:ext cx="3352450" cy="397924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675" lIns="91400" spcFirstLastPara="1" rIns="175475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 Map_ISO 9001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4263974" y="426041"/>
            <a:ext cx="1043865" cy="174244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하위 절차서</a:t>
            </a:r>
            <a:endParaRPr b="1" i="0" sz="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4263974" y="604741"/>
            <a:ext cx="1043865" cy="17424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하위 지침서</a:t>
            </a:r>
            <a:endParaRPr b="1" i="0" sz="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3"/>
          <p:cNvSpPr/>
          <p:nvPr/>
        </p:nvSpPr>
        <p:spPr>
          <a:xfrm flipH="1" rot="-5400000">
            <a:off x="5879625" y="98081"/>
            <a:ext cx="216636" cy="4190119"/>
          </a:xfrm>
          <a:prstGeom prst="homePlate">
            <a:avLst>
              <a:gd fmla="val 98269" name="adj"/>
            </a:avLst>
          </a:prstGeom>
          <a:gradFill>
            <a:gsLst>
              <a:gs pos="0">
                <a:srgbClr val="7F7F7F"/>
              </a:gs>
              <a:gs pos="66000">
                <a:srgbClr val="DCDCDC"/>
              </a:gs>
              <a:gs pos="100000">
                <a:srgbClr val="EDEDED"/>
              </a:gs>
            </a:gsLst>
            <a:lin ang="10800000" scaled="0"/>
          </a:gra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4241084" y="1064946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경영관리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6364702" y="1064946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3" name="Google Shape;113;p13"/>
          <p:cNvCxnSpPr/>
          <p:nvPr/>
        </p:nvCxnSpPr>
        <p:spPr>
          <a:xfrm>
            <a:off x="4651102" y="1417062"/>
            <a:ext cx="1873" cy="32904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3"/>
          <p:cNvCxnSpPr/>
          <p:nvPr/>
        </p:nvCxnSpPr>
        <p:spPr>
          <a:xfrm>
            <a:off x="6776935" y="1417062"/>
            <a:ext cx="1873" cy="32904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3"/>
          <p:cNvSpPr/>
          <p:nvPr/>
        </p:nvSpPr>
        <p:spPr>
          <a:xfrm>
            <a:off x="4241084" y="1496061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내부심사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4241084" y="1848894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리스크관리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389782" y="1577050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지속적개선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386404" y="1693453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3정5S 운영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243343" y="1596714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경영검토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2818113" y="3746199"/>
            <a:ext cx="823780" cy="13066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승인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844645" y="2818249"/>
            <a:ext cx="823780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개발관리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818113" y="3860661"/>
            <a:ext cx="823780" cy="13066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CTQ 절차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819248" y="3507490"/>
            <a:ext cx="823780" cy="130664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설계변경관리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4" name="Google Shape;124;p13"/>
          <p:cNvCxnSpPr>
            <a:stCxn id="121" idx="2"/>
          </p:cNvCxnSpPr>
          <p:nvPr/>
        </p:nvCxnSpPr>
        <p:spPr>
          <a:xfrm>
            <a:off x="3230003" y="3170365"/>
            <a:ext cx="600" cy="33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3"/>
          <p:cNvSpPr/>
          <p:nvPr/>
        </p:nvSpPr>
        <p:spPr>
          <a:xfrm>
            <a:off x="2818113" y="3981612"/>
            <a:ext cx="823780" cy="130664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QC 공정도 운영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6" name="Google Shape;126;p13"/>
          <p:cNvGrpSpPr/>
          <p:nvPr/>
        </p:nvGrpSpPr>
        <p:grpSpPr>
          <a:xfrm>
            <a:off x="7503964" y="2823349"/>
            <a:ext cx="851226" cy="1012397"/>
            <a:chOff x="7229171" y="2822476"/>
            <a:chExt cx="851337" cy="1012529"/>
          </a:xfrm>
        </p:grpSpPr>
        <p:cxnSp>
          <p:nvCxnSpPr>
            <p:cNvPr id="127" name="Google Shape;127;p13"/>
            <p:cNvCxnSpPr>
              <a:stCxn id="128" idx="2"/>
              <a:endCxn id="129" idx="0"/>
            </p:cNvCxnSpPr>
            <p:nvPr/>
          </p:nvCxnSpPr>
          <p:spPr>
            <a:xfrm flipH="1">
              <a:off x="7641129" y="3174638"/>
              <a:ext cx="900" cy="552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13"/>
            <p:cNvSpPr/>
            <p:nvPr/>
          </p:nvSpPr>
          <p:spPr>
            <a:xfrm>
              <a:off x="7256620" y="2822476"/>
              <a:ext cx="823888" cy="352162"/>
            </a:xfrm>
            <a:prstGeom prst="chevron">
              <a:avLst>
                <a:gd fmla="val 15070" name="adj"/>
              </a:avLst>
            </a:prstGeom>
            <a:gradFill>
              <a:gsLst>
                <a:gs pos="0">
                  <a:srgbClr val="FFC000"/>
                </a:gs>
                <a:gs pos="2752">
                  <a:srgbClr val="FFC000"/>
                </a:gs>
                <a:gs pos="100000">
                  <a:srgbClr val="FEFED8"/>
                </a:gs>
              </a:gsLst>
              <a:lin ang="0" scaled="0"/>
            </a:gradFill>
            <a:ln cap="flat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114300" rotWithShape="0" algn="ctr" dir="2700000" dist="63500">
                <a:srgbClr val="080808">
                  <a:alpha val="4941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제품보존 및 인도관리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7229171" y="3727005"/>
              <a:ext cx="823888" cy="108000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제품보존및인도관리</a:t>
              </a:r>
              <a:endParaRPr b="0" i="0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0" name="Google Shape;130;p13"/>
          <p:cNvSpPr/>
          <p:nvPr/>
        </p:nvSpPr>
        <p:spPr>
          <a:xfrm>
            <a:off x="7356854" y="6395831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통계적공정관리</a:t>
            </a:r>
            <a:endParaRPr b="0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1" name="Google Shape;131;p13"/>
          <p:cNvCxnSpPr>
            <a:stCxn id="132" idx="2"/>
          </p:cNvCxnSpPr>
          <p:nvPr/>
        </p:nvCxnSpPr>
        <p:spPr>
          <a:xfrm>
            <a:off x="9241612" y="3177989"/>
            <a:ext cx="2400" cy="51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3"/>
          <p:cNvSpPr/>
          <p:nvPr/>
        </p:nvSpPr>
        <p:spPr>
          <a:xfrm>
            <a:off x="8856253" y="2825873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고객만족</a:t>
            </a:r>
            <a:endParaRPr b="1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832262" y="3718007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고객만족활동</a:t>
            </a:r>
            <a:endParaRPr b="0" i="0" sz="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6139464" y="5638985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교육훈련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527964" y="5638985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문서화된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정보관리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504578" y="6242198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파일링시스템운영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6114982" y="6174138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인적자원관리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4499975" y="6124912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문서화된 정보관리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9" name="Google Shape;139;p13"/>
          <p:cNvCxnSpPr>
            <a:stCxn id="135" idx="2"/>
            <a:endCxn id="138" idx="0"/>
          </p:cNvCxnSpPr>
          <p:nvPr/>
        </p:nvCxnSpPr>
        <p:spPr>
          <a:xfrm flipH="1">
            <a:off x="4911823" y="5991101"/>
            <a:ext cx="1500" cy="13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3"/>
          <p:cNvCxnSpPr>
            <a:stCxn id="134" idx="2"/>
            <a:endCxn id="137" idx="0"/>
          </p:cNvCxnSpPr>
          <p:nvPr/>
        </p:nvCxnSpPr>
        <p:spPr>
          <a:xfrm>
            <a:off x="6524823" y="5991101"/>
            <a:ext cx="2100" cy="18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3"/>
          <p:cNvSpPr/>
          <p:nvPr/>
        </p:nvSpPr>
        <p:spPr>
          <a:xfrm>
            <a:off x="9143579" y="2322403"/>
            <a:ext cx="706629" cy="209150"/>
          </a:xfrm>
          <a:prstGeom prst="roundRect">
            <a:avLst>
              <a:gd fmla="val 33894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0000">
              <a:srgbClr val="000000">
                <a:alpha val="37255"/>
              </a:srgbClr>
            </a:outerShdw>
          </a:effectLst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2416697" y="2326138"/>
            <a:ext cx="1512691" cy="189915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6731528" y="2329216"/>
            <a:ext cx="1512691" cy="189915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양산관리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4463673" y="137455"/>
            <a:ext cx="644469" cy="251967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</a:t>
            </a:r>
            <a:endParaRPr b="1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7356854" y="6057809"/>
            <a:ext cx="1651611" cy="94572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및 시험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8180634" y="6400450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SAMPLING검사방법</a:t>
            </a:r>
            <a:endParaRPr b="1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7356854" y="6274431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부적합및시정조치</a:t>
            </a:r>
            <a:endParaRPr b="0" i="0" sz="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8180634" y="6276740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측정시스템관리(MSA)</a:t>
            </a:r>
            <a:endParaRPr b="1" i="0" sz="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7845025" y="5628550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검사업무</a:t>
            </a:r>
            <a:endParaRPr b="1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6241514" y="196715"/>
            <a:ext cx="644316" cy="139782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5"/>
              </a:srgbClr>
            </a:outerShdw>
          </a:effectLst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MP</a:t>
            </a:r>
            <a:endParaRPr b="1" i="1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6241514" y="368540"/>
            <a:ext cx="644316" cy="139782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5"/>
              </a:srgbClr>
            </a:outerShdw>
          </a:effectLst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</a:t>
            </a:r>
            <a:endParaRPr b="1" i="1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6241512" y="537945"/>
            <a:ext cx="644316" cy="139782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5"/>
              </a:srgbClr>
            </a:outerShdw>
          </a:effectLst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</a:t>
            </a:r>
            <a:endParaRPr b="1" i="1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6955802" y="186066"/>
            <a:ext cx="2932118" cy="1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경영 프로세스       : 내부적 운영과 시스템을 관할하는 프로세스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6969154" y="341181"/>
            <a:ext cx="3767209" cy="1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고객지향 프로세스 : 고객을 만나기전~고객을 만난후까지 고객을 위해 존재하는 프로세스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6955802" y="515499"/>
            <a:ext cx="2789037" cy="1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프로세스       : MP와 COP 를 지원하기 위한 프로세스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5257801" y="155663"/>
            <a:ext cx="483590" cy="24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5269406" y="378856"/>
            <a:ext cx="551163" cy="24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5264624" y="574290"/>
            <a:ext cx="546716" cy="246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15개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4241084" y="1953656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SWOT분석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0" name="Google Shape;160;p13"/>
          <p:cNvGrpSpPr/>
          <p:nvPr/>
        </p:nvGrpSpPr>
        <p:grpSpPr>
          <a:xfrm>
            <a:off x="4493308" y="2818254"/>
            <a:ext cx="850313" cy="1237995"/>
            <a:chOff x="4891077" y="2818254"/>
            <a:chExt cx="850313" cy="1237995"/>
          </a:xfrm>
        </p:grpSpPr>
        <p:cxnSp>
          <p:nvCxnSpPr>
            <p:cNvPr id="161" name="Google Shape;161;p13"/>
            <p:cNvCxnSpPr>
              <a:stCxn id="162" idx="2"/>
              <a:endCxn id="163" idx="0"/>
            </p:cNvCxnSpPr>
            <p:nvPr/>
          </p:nvCxnSpPr>
          <p:spPr>
            <a:xfrm>
              <a:off x="5302968" y="3170370"/>
              <a:ext cx="300" cy="544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13"/>
            <p:cNvSpPr/>
            <p:nvPr/>
          </p:nvSpPr>
          <p:spPr>
            <a:xfrm>
              <a:off x="4891522" y="3714868"/>
              <a:ext cx="823781" cy="107986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구매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4891522" y="3827379"/>
              <a:ext cx="823781" cy="107986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외부공급자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917609" y="2818254"/>
              <a:ext cx="823781" cy="352116"/>
            </a:xfrm>
            <a:prstGeom prst="chevron">
              <a:avLst>
                <a:gd fmla="val 15070" name="adj"/>
              </a:avLst>
            </a:prstGeom>
            <a:gradFill>
              <a:gsLst>
                <a:gs pos="0">
                  <a:srgbClr val="FFC000"/>
                </a:gs>
                <a:gs pos="2752">
                  <a:srgbClr val="FFC000"/>
                </a:gs>
                <a:gs pos="100000">
                  <a:srgbClr val="FEFED8"/>
                </a:gs>
              </a:gsLst>
              <a:lin ang="0" scaled="0"/>
            </a:gradFill>
            <a:ln cap="flat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114300" rotWithShape="0" algn="ctr" dir="2700000" dist="63500">
                <a:srgbClr val="080808">
                  <a:alpha val="4941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구매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4891077" y="3948263"/>
              <a:ext cx="823781" cy="10798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부품 승인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3"/>
          <p:cNvGrpSpPr/>
          <p:nvPr/>
        </p:nvGrpSpPr>
        <p:grpSpPr>
          <a:xfrm>
            <a:off x="6029879" y="2818254"/>
            <a:ext cx="848414" cy="1835326"/>
            <a:chOff x="6000319" y="2817380"/>
            <a:chExt cx="848524" cy="1835565"/>
          </a:xfrm>
        </p:grpSpPr>
        <p:sp>
          <p:nvSpPr>
            <p:cNvPr id="167" name="Google Shape;167;p13"/>
            <p:cNvSpPr/>
            <p:nvPr/>
          </p:nvSpPr>
          <p:spPr>
            <a:xfrm>
              <a:off x="6000319" y="4068805"/>
              <a:ext cx="823888" cy="108000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비상사태 관리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8" name="Google Shape;168;p13"/>
            <p:cNvCxnSpPr>
              <a:stCxn id="169" idx="2"/>
              <a:endCxn id="170" idx="0"/>
            </p:cNvCxnSpPr>
            <p:nvPr/>
          </p:nvCxnSpPr>
          <p:spPr>
            <a:xfrm>
              <a:off x="6410364" y="3169542"/>
              <a:ext cx="1800" cy="54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" name="Google Shape;169;p13"/>
            <p:cNvSpPr/>
            <p:nvPr/>
          </p:nvSpPr>
          <p:spPr>
            <a:xfrm>
              <a:off x="6024955" y="2817380"/>
              <a:ext cx="823888" cy="352162"/>
            </a:xfrm>
            <a:prstGeom prst="chevron">
              <a:avLst>
                <a:gd fmla="val 15070" name="adj"/>
              </a:avLst>
            </a:prstGeom>
            <a:gradFill>
              <a:gsLst>
                <a:gs pos="0">
                  <a:srgbClr val="FFC000"/>
                </a:gs>
                <a:gs pos="2752">
                  <a:srgbClr val="FFC000"/>
                </a:gs>
                <a:gs pos="100000">
                  <a:srgbClr val="FEFED8"/>
                </a:gs>
              </a:gsLst>
              <a:lin ang="0" scaled="0"/>
            </a:gradFill>
            <a:ln cap="flat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114300" rotWithShape="0" algn="ctr" dir="2700000" dist="63500">
                <a:srgbClr val="080808">
                  <a:alpha val="49412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생산관리</a:t>
              </a:r>
              <a:endParaRPr b="1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6000319" y="3949721"/>
              <a:ext cx="823888" cy="108000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4M 변경관리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6000319" y="3715306"/>
              <a:ext cx="823888" cy="108000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공정관리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6000319" y="3828558"/>
              <a:ext cx="823888" cy="108000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자재관리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6002244" y="4301333"/>
              <a:ext cx="823888" cy="1080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작업표준 관리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6000319" y="4544945"/>
              <a:ext cx="823888" cy="1080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비상사태 대응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6001917" y="4179527"/>
              <a:ext cx="823888" cy="108000"/>
            </a:xfrm>
            <a:prstGeom prst="rect">
              <a:avLst/>
            </a:prstGeom>
            <a:solidFill>
              <a:srgbClr val="00B0F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식별 및 추적성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6000319" y="4419774"/>
              <a:ext cx="823888" cy="1080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치공구 관리</a:t>
              </a:r>
              <a:endParaRPr b="0" i="0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7" name="Google Shape;177;p13"/>
          <p:cNvSpPr/>
          <p:nvPr/>
        </p:nvSpPr>
        <p:spPr>
          <a:xfrm>
            <a:off x="2763479" y="5648685"/>
            <a:ext cx="823781" cy="352116"/>
          </a:xfrm>
          <a:prstGeom prst="chevron">
            <a:avLst>
              <a:gd fmla="val 15070" name="adj"/>
            </a:avLst>
          </a:prstGeom>
          <a:gradFill>
            <a:gsLst>
              <a:gs pos="0">
                <a:srgbClr val="FFC000"/>
              </a:gs>
              <a:gs pos="2752">
                <a:srgbClr val="FFC000"/>
              </a:gs>
              <a:gs pos="100000">
                <a:srgbClr val="FEFED8"/>
              </a:gs>
            </a:gsLst>
            <a:lin ang="0" scaled="0"/>
          </a:gra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114300" rotWithShape="0" algn="ctr" dir="2700000" dist="63500">
              <a:srgbClr val="080808">
                <a:alpha val="4941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설비보전관리</a:t>
            </a:r>
            <a:endParaRPr b="1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2735489" y="6134612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설비관리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9" name="Google Shape;179;p13"/>
          <p:cNvCxnSpPr>
            <a:stCxn id="177" idx="2"/>
            <a:endCxn id="178" idx="0"/>
          </p:cNvCxnSpPr>
          <p:nvPr/>
        </p:nvCxnSpPr>
        <p:spPr>
          <a:xfrm flipH="1">
            <a:off x="3147338" y="6000801"/>
            <a:ext cx="1500" cy="13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3"/>
          <p:cNvSpPr/>
          <p:nvPr/>
        </p:nvSpPr>
        <p:spPr>
          <a:xfrm>
            <a:off x="7372886" y="6153030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부적합및시정조치</a:t>
            </a:r>
            <a:endParaRPr b="1" i="0" sz="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7356854" y="6166444"/>
            <a:ext cx="1655438" cy="94572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검사, 계측기및시험장비</a:t>
            </a:r>
            <a:endParaRPr b="0" i="0" sz="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236924" y="1714658"/>
            <a:ext cx="823781" cy="107986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조직및업무분장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6386404" y="1809288"/>
            <a:ext cx="823781" cy="10798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2822076" y="3632189"/>
            <a:ext cx="823780" cy="130664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초도품 양산 승인</a:t>
            </a:r>
            <a:endParaRPr b="0" i="0" sz="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고려청자">
      <a:dk1>
        <a:srgbClr val="000000"/>
      </a:dk1>
      <a:lt1>
        <a:srgbClr val="FFFFFF"/>
      </a:lt1>
      <a:dk2>
        <a:srgbClr val="005466"/>
      </a:dk2>
      <a:lt2>
        <a:srgbClr val="D9F3F4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