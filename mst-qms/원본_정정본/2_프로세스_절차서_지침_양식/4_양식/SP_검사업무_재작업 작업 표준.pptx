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</p:sldIdLst>
  <p:sldSz cy="6858000" cx="9906000"/>
  <p:notesSz cx="6889750" cy="100187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4995F47-8124-4316-852D-90A786AACEA2}">
  <a:tblStyle styleId="{E4995F47-8124-4316-852D-90A786AACEA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3CCD547-E97F-4B45-BF5F-1759ABC0ECF5}" styleName="Table_1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12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2"/>
            <a:ext cx="2984847" cy="501497"/>
          </a:xfrm>
          <a:prstGeom prst="rect">
            <a:avLst/>
          </a:prstGeom>
          <a:noFill/>
          <a:ln>
            <a:noFill/>
          </a:ln>
        </p:spPr>
        <p:txBody>
          <a:bodyPr anchorCtr="0" anchor="t" bIns="46700" lIns="93400" spcFirstLastPara="1" rIns="93400" wrap="square" tIns="46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03264" y="2"/>
            <a:ext cx="2984847" cy="501497"/>
          </a:xfrm>
          <a:prstGeom prst="rect">
            <a:avLst/>
          </a:prstGeom>
          <a:noFill/>
          <a:ln>
            <a:noFill/>
          </a:ln>
        </p:spPr>
        <p:txBody>
          <a:bodyPr anchorCtr="0" anchor="t" bIns="46700" lIns="93400" spcFirstLastPara="1" rIns="93400" wrap="square" tIns="46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733425" y="752475"/>
            <a:ext cx="5422900" cy="37560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8813" y="4758610"/>
            <a:ext cx="5512129" cy="4508661"/>
          </a:xfrm>
          <a:prstGeom prst="rect">
            <a:avLst/>
          </a:prstGeom>
          <a:noFill/>
          <a:ln>
            <a:noFill/>
          </a:ln>
        </p:spPr>
        <p:txBody>
          <a:bodyPr anchorCtr="0" anchor="t" bIns="46700" lIns="93400" spcFirstLastPara="1" rIns="93400" wrap="square" tIns="46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515616"/>
            <a:ext cx="2984847" cy="501496"/>
          </a:xfrm>
          <a:prstGeom prst="rect">
            <a:avLst/>
          </a:prstGeom>
          <a:noFill/>
          <a:ln>
            <a:noFill/>
          </a:ln>
        </p:spPr>
        <p:txBody>
          <a:bodyPr anchorCtr="0" anchor="b" bIns="46700" lIns="93400" spcFirstLastPara="1" rIns="93400" wrap="square" tIns="46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03264" y="9515616"/>
            <a:ext cx="2984847" cy="501496"/>
          </a:xfrm>
          <a:prstGeom prst="rect">
            <a:avLst/>
          </a:prstGeom>
          <a:noFill/>
          <a:ln>
            <a:noFill/>
          </a:ln>
        </p:spPr>
        <p:txBody>
          <a:bodyPr anchorCtr="0" anchor="b" bIns="46700" lIns="93400" spcFirstLastPara="1" rIns="93400" wrap="square" tIns="46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733425" y="752475"/>
            <a:ext cx="5422900" cy="37560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8813" y="4758610"/>
            <a:ext cx="5512129" cy="4508661"/>
          </a:xfrm>
          <a:prstGeom prst="rect">
            <a:avLst/>
          </a:prstGeom>
          <a:noFill/>
          <a:ln>
            <a:noFill/>
          </a:ln>
        </p:spPr>
        <p:txBody>
          <a:bodyPr anchorCtr="0" anchor="t" bIns="46700" lIns="93400" spcFirstLastPara="1" rIns="93400" wrap="square" tIns="46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903264" y="9515616"/>
            <a:ext cx="2984847" cy="501496"/>
          </a:xfrm>
          <a:prstGeom prst="rect">
            <a:avLst/>
          </a:prstGeom>
          <a:noFill/>
          <a:ln>
            <a:noFill/>
          </a:ln>
        </p:spPr>
        <p:txBody>
          <a:bodyPr anchorCtr="0" anchor="b" bIns="46700" lIns="93400" spcFirstLastPara="1" rIns="93400" wrap="square" tIns="46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88" name="Google Shape;88;p1:notes"/>
          <p:cNvSpPr txBox="1"/>
          <p:nvPr>
            <p:ph idx="11" type="ftr"/>
          </p:nvPr>
        </p:nvSpPr>
        <p:spPr>
          <a:xfrm>
            <a:off x="0" y="9515616"/>
            <a:ext cx="2984847" cy="501496"/>
          </a:xfrm>
          <a:prstGeom prst="rect">
            <a:avLst/>
          </a:prstGeom>
          <a:noFill/>
          <a:ln>
            <a:noFill/>
          </a:ln>
        </p:spPr>
        <p:txBody>
          <a:bodyPr anchorCtr="0" anchor="b" bIns="46700" lIns="93400" spcFirstLastPara="1" rIns="93400" wrap="square" tIns="46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1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8813" y="4758610"/>
            <a:ext cx="5512129" cy="4508661"/>
          </a:xfrm>
          <a:prstGeom prst="rect">
            <a:avLst/>
          </a:prstGeom>
        </p:spPr>
        <p:txBody>
          <a:bodyPr anchorCtr="0" anchor="t" bIns="46700" lIns="93400" spcFirstLastPara="1" rIns="93400" wrap="square" tIns="46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733425" y="752475"/>
            <a:ext cx="5422900" cy="37560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742950" y="2130426"/>
            <a:ext cx="84201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idx="10" type="dt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782506" y="4406901"/>
            <a:ext cx="84201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algun Gothic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782506" y="2906713"/>
            <a:ext cx="84201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95300" y="1600201"/>
            <a:ext cx="437515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5035550" y="1600201"/>
            <a:ext cx="437515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95300" y="1535113"/>
            <a:ext cx="4376870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95300" y="2174875"/>
            <a:ext cx="4376870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5032111" y="1535113"/>
            <a:ext cx="4378590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5032111" y="2174875"/>
            <a:ext cx="4378590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95300" y="273050"/>
            <a:ext cx="3259006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872971" y="273051"/>
            <a:ext cx="5537729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95300" y="1435101"/>
            <a:ext cx="3259006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941645" y="4800600"/>
            <a:ext cx="59436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941645" y="612775"/>
            <a:ext cx="59436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941645" y="5367338"/>
            <a:ext cx="59436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690019" y="-594518"/>
            <a:ext cx="4525963" cy="89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5370513" y="2085977"/>
            <a:ext cx="5851525" cy="2228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830263" y="-60324"/>
            <a:ext cx="5851525" cy="652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" name="Google Shape;90;p13"/>
          <p:cNvGraphicFramePr/>
          <p:nvPr/>
        </p:nvGraphicFramePr>
        <p:xfrm>
          <a:off x="87800" y="615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{E4995F47-8124-4316-852D-90A786AACEA2}</a:tableStyleId>
              </a:tblPr>
              <a:tblGrid>
                <a:gridCol w="900950"/>
                <a:gridCol w="6460350"/>
                <a:gridCol w="301275"/>
                <a:gridCol w="675725"/>
                <a:gridCol w="675725"/>
                <a:gridCol w="675725"/>
              </a:tblGrid>
              <a:tr h="267775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b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2600" u="none" cap="none" strike="noStrike">
                          <a:solidFill>
                            <a:srgbClr val="F2F2F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재작업 처리기준</a:t>
                      </a:r>
                      <a:endParaRPr b="1" i="0" sz="2600" u="none" cap="none" strike="noStrike">
                        <a:solidFill>
                          <a:srgbClr val="F2F2F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9FF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결        재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작   성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검   토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승   인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2925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1" name="Google Shape;91;p13"/>
          <p:cNvGraphicFramePr/>
          <p:nvPr/>
        </p:nvGraphicFramePr>
        <p:xfrm>
          <a:off x="116463" y="100010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{A3CCD547-E97F-4B45-BF5F-1759ABC0ECF5}</a:tableStyleId>
              </a:tblPr>
              <a:tblGrid>
                <a:gridCol w="9661075"/>
              </a:tblGrid>
              <a:tr h="4857775">
                <a:tc>
                  <a:txBody>
                    <a:bodyPr/>
                    <a:lstStyle/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 목적: 부적합(의심제품) 중 재작업 가능 항목 및 재작업 처리기준 및 LOT식별기준을 정함.</a:t>
                      </a:r>
                      <a:endParaRPr/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 대상: 가공품에 적용.</a:t>
                      </a:r>
                      <a:endParaRPr/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t/>
                      </a:r>
                      <a:endParaRPr b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t/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50" marL="9905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2" name="Google Shape;92;p13"/>
          <p:cNvSpPr/>
          <p:nvPr/>
        </p:nvSpPr>
        <p:spPr>
          <a:xfrm>
            <a:off x="8267723" y="438129"/>
            <a:ext cx="971550" cy="333375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내부결재 완료</a:t>
            </a:r>
            <a:endParaRPr/>
          </a:p>
        </p:txBody>
      </p:sp>
      <p:graphicFrame>
        <p:nvGraphicFramePr>
          <p:cNvPr id="93" name="Google Shape;93;p13"/>
          <p:cNvGraphicFramePr/>
          <p:nvPr/>
        </p:nvGraphicFramePr>
        <p:xfrm>
          <a:off x="123790" y="59169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{A3CCD547-E97F-4B45-BF5F-1759ABC0ECF5}</a:tableStyleId>
              </a:tblPr>
              <a:tblGrid>
                <a:gridCol w="503800"/>
                <a:gridCol w="935625"/>
                <a:gridCol w="2603975"/>
                <a:gridCol w="571500"/>
                <a:gridCol w="500075"/>
                <a:gridCol w="1002575"/>
                <a:gridCol w="2926500"/>
                <a:gridCol w="600075"/>
              </a:tblGrid>
              <a:tr h="289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제·개정일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제·개정내용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확인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제·개정일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제·개정내용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확인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2018.02.28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초도작성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2021.10.26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LOT식별 관리 추가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2021.06.10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재작업 기록관리 문서 등록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11.png" id="94" name="Google Shape;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654" y="1443024"/>
            <a:ext cx="3214710" cy="43434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9.png" id="95" name="Google Shape;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19464" y="1447786"/>
            <a:ext cx="6319882" cy="4338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Google Shape;100;p14"/>
          <p:cNvGraphicFramePr/>
          <p:nvPr/>
        </p:nvGraphicFramePr>
        <p:xfrm>
          <a:off x="166654" y="5714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{A3CCD547-E97F-4B45-BF5F-1759ABC0ECF5}</a:tableStyleId>
              </a:tblPr>
              <a:tblGrid>
                <a:gridCol w="3357575"/>
                <a:gridCol w="3500450"/>
                <a:gridCol w="1000125"/>
                <a:gridCol w="1000125"/>
              </a:tblGrid>
              <a:tr h="28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재작업 처리 FLOW</a:t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업무내용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품질기록문서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담당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8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부적합품(의심제품), 폐기품 발생 시 해당 TAG(노란,적색) 부착</a:t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6350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부적합품(의심제품): 노란색 TAG/폐기품: 적색 TAG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부적합품(의심제품)은 품질검사원에게 통보</a:t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품질검사원은 부적합품(의심제품)을 부적합품 보관장소에 격리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의심제품 TAG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부적합 TAG</a:t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발견자</a:t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품질검사원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8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재작업 가능여부 판정</a:t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6350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재작업 불가능품은 적색 TAG부착</a:t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6350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부적합품 관리대장에 등록/폐기조치</a:t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재작업 가능품은 해당공정 제조팀장에게 통보 및 인계  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부적합품</a:t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관리대장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품질팀장</a:t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품질검사원</a:t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57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6350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재작업 가능품은 해당공정 제조팀장에게 통보 및 인계  </a:t>
                      </a:r>
                      <a:endParaRPr/>
                    </a:p>
                    <a:p>
                      <a:pPr indent="-6350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해당공정 제조팀장은 재작업 방법 및 조건 설정</a:t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6350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재작업 실시 후 초품 품질검사원에게 인계</a:t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제조팀장</a:t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8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재작업품은 검사기준서에 준한 검사실시 - 외관/치수</a:t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검사성적서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품질검사원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2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6350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재작업 양품은 녹색 TAG 부착 후 해당공정(출하장) 이동</a:t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6350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Arial"/>
                        <a:buChar char="-"/>
                      </a:pPr>
                      <a:r>
                        <a:rPr b="0" lang="ko-KR" sz="1000" u="none" cap="none" strike="noStrik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내부 관리용 LOT NO부여: 211019R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(21: 재작업연도/10: 재작업월/19: 재작업일 R: 리워크 약자)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-재작업 이력관리대장에 리워크 LOT NO 기록관리 </a:t>
                      </a:r>
                      <a:endParaRPr b="0" sz="1000" u="none" cap="none" strike="noStrike">
                        <a:solidFill>
                          <a:srgbClr val="0000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재작업 이력</a:t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관리대장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품질팀장</a:t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품질검사원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6350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Arial"/>
                        <a:buChar char="-"/>
                      </a:pPr>
                      <a:r>
                        <a:rPr b="0" lang="ko-KR" sz="1000" u="none" cap="none" strike="noStrik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출하성적서 비고란에 내부 관리용 LOT NO기록 </a:t>
                      </a:r>
                      <a:endParaRPr b="0" sz="1000" u="none" cap="none" strike="noStrike">
                        <a:solidFill>
                          <a:srgbClr val="0000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6350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Arial"/>
                        <a:buChar char="-"/>
                      </a:pPr>
                      <a:r>
                        <a:rPr b="0" lang="ko-KR" sz="1000" u="none" cap="none" strike="noStrik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리워크품 출고시기: 해당 LOT 마지막 출고 시 </a:t>
                      </a:r>
                      <a:endParaRPr b="0" sz="1000" u="none" cap="none" strike="noStrike">
                        <a:solidFill>
                          <a:srgbClr val="0000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출하성적서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품질검사원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01" name="Google Shape;101;p14"/>
          <p:cNvCxnSpPr>
            <a:stCxn id="102" idx="1"/>
            <a:endCxn id="103" idx="3"/>
          </p:cNvCxnSpPr>
          <p:nvPr/>
        </p:nvCxnSpPr>
        <p:spPr>
          <a:xfrm flipH="1">
            <a:off x="1448561" y="2305933"/>
            <a:ext cx="237000" cy="390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2" name="Google Shape;102;p14"/>
          <p:cNvSpPr/>
          <p:nvPr/>
        </p:nvSpPr>
        <p:spPr>
          <a:xfrm>
            <a:off x="1685561" y="1940450"/>
            <a:ext cx="1288028" cy="730966"/>
          </a:xfrm>
          <a:prstGeom prst="flowChartDecision">
            <a:avLst/>
          </a:prstGeom>
          <a:solidFill>
            <a:srgbClr val="FFFFFF"/>
          </a:solidFill>
          <a:ln cap="flat" cmpd="sng" w="158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재작업 가능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여부판정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1684547" y="4164553"/>
            <a:ext cx="1288028" cy="730965"/>
          </a:xfrm>
          <a:prstGeom prst="flowChartDecision">
            <a:avLst/>
          </a:prstGeom>
          <a:solidFill>
            <a:srgbClr val="FFFFFF"/>
          </a:solidFill>
          <a:ln cap="flat" cmpd="sng" w="158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재작업 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초도품 검사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1573771" y="1467303"/>
            <a:ext cx="1523375" cy="296488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부적합품(의심제품)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식별 및 격리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649485" y="2161699"/>
            <a:ext cx="799194" cy="296487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폐기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1582381" y="926029"/>
            <a:ext cx="1523375" cy="411834"/>
          </a:xfrm>
          <a:prstGeom prst="rect">
            <a:avLst/>
          </a:prstGeom>
          <a:solidFill>
            <a:srgbClr val="FF0000"/>
          </a:solidFill>
          <a:ln cap="flat" cmpd="sng" w="158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부적합품(의심제품)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발견, 발생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" name="Google Shape;107;p14"/>
          <p:cNvCxnSpPr/>
          <p:nvPr/>
        </p:nvCxnSpPr>
        <p:spPr>
          <a:xfrm rot="5400000">
            <a:off x="2260299" y="1402584"/>
            <a:ext cx="12944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1.png" id="108" name="Google Shape;10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887" y="2164009"/>
            <a:ext cx="303501" cy="2824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.png" id="109" name="Google Shape;10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58826" y="1467564"/>
            <a:ext cx="303501" cy="28240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2281838" y="2616729"/>
            <a:ext cx="334413" cy="1975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endParaRPr b="0" i="0" sz="9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1396007" y="2107138"/>
            <a:ext cx="340788" cy="1975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NG</a:t>
            </a:r>
            <a:endParaRPr b="0" i="0" sz="9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2272313" y="4893220"/>
            <a:ext cx="334413" cy="1975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endParaRPr b="0" i="0" sz="9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7.png" id="113" name="Google Shape;11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7669" y="5112296"/>
            <a:ext cx="285751" cy="35506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/>
          <p:nvPr/>
        </p:nvSpPr>
        <p:spPr>
          <a:xfrm>
            <a:off x="1573771" y="2845814"/>
            <a:ext cx="1523375" cy="296485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재작업 방법 및 조건 설정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(설비 및 공정, 인원)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1573771" y="3297772"/>
            <a:ext cx="1523375" cy="296485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재작업 실시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1573771" y="3735926"/>
            <a:ext cx="1523375" cy="296485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재작업 초도품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1573771" y="5150396"/>
            <a:ext cx="1523375" cy="374118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양품처리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내부 LOT NO부여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Google Shape;118;p14"/>
          <p:cNvCxnSpPr/>
          <p:nvPr/>
        </p:nvCxnSpPr>
        <p:spPr>
          <a:xfrm rot="5400000">
            <a:off x="2264743" y="2752887"/>
            <a:ext cx="12944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9" name="Google Shape;119;p14"/>
          <p:cNvCxnSpPr/>
          <p:nvPr/>
        </p:nvCxnSpPr>
        <p:spPr>
          <a:xfrm rot="5400000">
            <a:off x="2254410" y="1861868"/>
            <a:ext cx="138114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0" name="Google Shape;120;p14"/>
          <p:cNvSpPr txBox="1"/>
          <p:nvPr/>
        </p:nvSpPr>
        <p:spPr>
          <a:xfrm>
            <a:off x="3015268" y="4374104"/>
            <a:ext cx="340788" cy="1975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NG</a:t>
            </a:r>
            <a:endParaRPr b="0" i="0" sz="9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" name="Google Shape;121;p14"/>
          <p:cNvCxnSpPr>
            <a:stCxn id="104" idx="3"/>
            <a:endCxn id="116" idx="3"/>
          </p:cNvCxnSpPr>
          <p:nvPr/>
        </p:nvCxnSpPr>
        <p:spPr>
          <a:xfrm flipH="1" rot="10800000">
            <a:off x="2972575" y="3884136"/>
            <a:ext cx="124500" cy="645900"/>
          </a:xfrm>
          <a:prstGeom prst="bentConnector3">
            <a:avLst>
              <a:gd fmla="val 283672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2" name="Google Shape;122;p14"/>
          <p:cNvCxnSpPr/>
          <p:nvPr/>
        </p:nvCxnSpPr>
        <p:spPr>
          <a:xfrm rot="5400000">
            <a:off x="2264743" y="3224378"/>
            <a:ext cx="12944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" name="Google Shape;123;p14"/>
          <p:cNvCxnSpPr/>
          <p:nvPr/>
        </p:nvCxnSpPr>
        <p:spPr>
          <a:xfrm rot="5400000">
            <a:off x="2264743" y="3667294"/>
            <a:ext cx="12944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4" name="Google Shape;124;p14"/>
          <p:cNvCxnSpPr/>
          <p:nvPr/>
        </p:nvCxnSpPr>
        <p:spPr>
          <a:xfrm rot="5400000">
            <a:off x="2264743" y="4095922"/>
            <a:ext cx="12944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5" name="Google Shape;125;p14"/>
          <p:cNvCxnSpPr>
            <a:endCxn id="117" idx="0"/>
          </p:cNvCxnSpPr>
          <p:nvPr/>
        </p:nvCxnSpPr>
        <p:spPr>
          <a:xfrm>
            <a:off x="2335459" y="4907396"/>
            <a:ext cx="0" cy="24300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6" name="Google Shape;126;p14"/>
          <p:cNvCxnSpPr>
            <a:stCxn id="104" idx="1"/>
            <a:endCxn id="103" idx="2"/>
          </p:cNvCxnSpPr>
          <p:nvPr/>
        </p:nvCxnSpPr>
        <p:spPr>
          <a:xfrm rot="10800000">
            <a:off x="1049147" y="2458236"/>
            <a:ext cx="635400" cy="2071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7" name="Google Shape;127;p14"/>
          <p:cNvSpPr txBox="1"/>
          <p:nvPr/>
        </p:nvSpPr>
        <p:spPr>
          <a:xfrm>
            <a:off x="1381100" y="4357694"/>
            <a:ext cx="340788" cy="1975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NG</a:t>
            </a:r>
            <a:endParaRPr b="0" i="0" sz="9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4"/>
          <p:cNvSpPr/>
          <p:nvPr/>
        </p:nvSpPr>
        <p:spPr>
          <a:xfrm>
            <a:off x="1573771" y="5775721"/>
            <a:ext cx="1523375" cy="367923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출하성적서에 리워크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LOT NO기입  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" name="Google Shape;129;p14"/>
          <p:cNvCxnSpPr/>
          <p:nvPr/>
        </p:nvCxnSpPr>
        <p:spPr>
          <a:xfrm rot="5400000">
            <a:off x="2208019" y="5641196"/>
            <a:ext cx="242888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