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906000"/>
  <p:notesSz cx="6797675" cy="9926625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19">
          <p15:clr>
            <a:srgbClr val="000000"/>
          </p15:clr>
        </p15:guide>
        <p15:guide id="2" orient="horz" pos="2160">
          <p15:clr>
            <a:srgbClr val="000000"/>
          </p15:clr>
        </p15:guide>
        <p15:guide id="3" pos="3120">
          <p15:clr>
            <a:srgbClr val="000000"/>
          </p15:clr>
        </p15:guide>
      </p15:sldGuideLst>
    </p:ext>
    <p:ext uri="{2D200454-40CA-4A62-9FC3-DE9A4176ACB9}">
      <p15:notesGuideLst>
        <p15:guide id="1" orient="horz" pos="3126">
          <p15:clr>
            <a:srgbClr val="000000"/>
          </p15:clr>
        </p15:guide>
        <p15:guide id="2" pos="2141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DEAB90-507D-4840-8DEB-915790A04391}">
  <a:tblStyle styleId="{65DEAB90-507D-4840-8DEB-915790A043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19" orient="horz"/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481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2862" y="0"/>
            <a:ext cx="2944812" cy="4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4812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2862" y="9429750"/>
            <a:ext cx="2944812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906462" y="4716462"/>
            <a:ext cx="4984750" cy="44656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712787" y="744537"/>
            <a:ext cx="537686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6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11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533400" y="685800"/>
            <a:ext cx="5105400" cy="533400"/>
          </a:xfrm>
          <a:prstGeom prst="bevel">
            <a:avLst>
              <a:gd fmla="val 2250" name="adj"/>
            </a:avLst>
          </a:prstGeom>
          <a:gradFill>
            <a:gsLst>
              <a:gs pos="0">
                <a:srgbClr val="5479E2"/>
              </a:gs>
              <a:gs pos="100000">
                <a:srgbClr val="A6B9F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76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목차</a:t>
            </a:r>
            <a:endParaRPr/>
          </a:p>
        </p:txBody>
      </p:sp>
      <p:grpSp>
        <p:nvGrpSpPr>
          <p:cNvPr id="51" name="Google Shape;51;p13"/>
          <p:cNvGrpSpPr/>
          <p:nvPr/>
        </p:nvGrpSpPr>
        <p:grpSpPr>
          <a:xfrm>
            <a:off x="568325" y="1431925"/>
            <a:ext cx="7135601" cy="520700"/>
            <a:chOff x="385" y="572"/>
            <a:chExt cx="4521" cy="328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4" name="Google Shape;54;p13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55" name="Google Shape;55;p13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6" name="Google Shape;56;p13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1. LOT 추적성 관리의 목적 및 용어 설명</a:t>
              </a:r>
              <a:endParaRPr/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617537" y="2857500"/>
            <a:ext cx="7086600" cy="523875"/>
            <a:chOff x="416" y="570"/>
            <a:chExt cx="4490" cy="330"/>
          </a:xfrm>
        </p:grpSpPr>
        <p:grpSp>
          <p:nvGrpSpPr>
            <p:cNvPr id="58" name="Google Shape;58;p13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59" name="Google Shape;59;p13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0" name="Google Shape;60;p13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61" name="Google Shape;61;p13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62" name="Google Shape;62;p13"/>
            <p:cNvSpPr txBox="1"/>
            <p:nvPr/>
          </p:nvSpPr>
          <p:spPr>
            <a:xfrm>
              <a:off x="493" y="570"/>
              <a:ext cx="4226" cy="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3. LOT 추적성 관리 (이동전표 작성 예)</a:t>
              </a:r>
              <a:endParaRPr/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568325" y="2141537"/>
            <a:ext cx="7135601" cy="520700"/>
            <a:chOff x="385" y="572"/>
            <a:chExt cx="4521" cy="328"/>
          </a:xfrm>
        </p:grpSpPr>
        <p:grpSp>
          <p:nvGrpSpPr>
            <p:cNvPr id="64" name="Google Shape;64;p13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65" name="Google Shape;65;p13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6" name="Google Shape;66;p13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67" name="Google Shape;67;p13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68" name="Google Shape;68;p13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2. LOT 추적성 관리방안   </a:t>
              </a:r>
              <a:endParaRPr/>
            </a:p>
          </p:txBody>
        </p:sp>
      </p:grpSp>
      <p:grpSp>
        <p:nvGrpSpPr>
          <p:cNvPr id="69" name="Google Shape;69;p13"/>
          <p:cNvGrpSpPr/>
          <p:nvPr/>
        </p:nvGrpSpPr>
        <p:grpSpPr>
          <a:xfrm>
            <a:off x="568325" y="3597275"/>
            <a:ext cx="7135812" cy="520700"/>
            <a:chOff x="385" y="572"/>
            <a:chExt cx="4521" cy="328"/>
          </a:xfrm>
        </p:grpSpPr>
        <p:grpSp>
          <p:nvGrpSpPr>
            <p:cNvPr id="70" name="Google Shape;70;p13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71" name="Google Shape;71;p13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72" name="Google Shape;72;p13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73" name="Google Shape;73;p13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74" name="Google Shape;74;p13"/>
            <p:cNvSpPr txBox="1"/>
            <p:nvPr/>
          </p:nvSpPr>
          <p:spPr>
            <a:xfrm>
              <a:off x="385" y="572"/>
              <a:ext cx="404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4. LOT 추적성 관리 (작업일보 및 이동전표 작성방법)</a:t>
              </a:r>
              <a:endParaRPr/>
            </a:p>
          </p:txBody>
        </p:sp>
      </p:grpSp>
      <p:grpSp>
        <p:nvGrpSpPr>
          <p:cNvPr id="75" name="Google Shape;75;p13"/>
          <p:cNvGrpSpPr/>
          <p:nvPr/>
        </p:nvGrpSpPr>
        <p:grpSpPr>
          <a:xfrm>
            <a:off x="595312" y="4357687"/>
            <a:ext cx="7108825" cy="500062"/>
            <a:chOff x="402" y="585"/>
            <a:chExt cx="4504" cy="315"/>
          </a:xfrm>
        </p:grpSpPr>
        <p:grpSp>
          <p:nvGrpSpPr>
            <p:cNvPr id="76" name="Google Shape;76;p13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77" name="Google Shape;77;p13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78" name="Google Shape;78;p13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79" name="Google Shape;79;p13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0" name="Google Shape;80;p13"/>
            <p:cNvSpPr txBox="1"/>
            <p:nvPr/>
          </p:nvSpPr>
          <p:spPr>
            <a:xfrm>
              <a:off x="402" y="585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5. LOT 추적성 관리 (부착 사진)</a:t>
              </a:r>
              <a:endParaRPr/>
            </a:p>
          </p:txBody>
        </p:sp>
      </p:grpSp>
      <p:sp>
        <p:nvSpPr>
          <p:cNvPr id="81" name="Google Shape;81;p13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0" y="142875"/>
            <a:ext cx="7742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1. LOT 추적성 관리의 목적 및 용어 설명 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23875" y="1071562"/>
            <a:ext cx="8893175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목 적 : 품질문제 발생시 즉시 제조경로를 추적하여 대책을 수립하며,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고객불만, 클레임 등을 최소화 하기 위하여 관리함을 목적으로 한다.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23875" y="1857375"/>
            <a:ext cx="8893175" cy="4357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2. 용어 설명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1) 소재 Heat No  : 소재 제조사에서 각 소재마다 부여하는 제작번호로써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MILL SHEET (거래명세서)에 표시됨.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2) 원자재 LOT-NO : 사내 자재 담당자가  소재 입고시  각 소재마다 부여하는  고유번호.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3) 가공 LOT NO : 원자재 LOT-NO가 부여된 소재를 CNC 가공 할 시 부여하는 고유번호.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4) 작업일보  : 각 공정 작업자가  생산한 정보를 작성, 기록을 남기는 기록지로써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앞공정 LOT-NO (생산일+작업자 고유영문), 생산자명, 품번, 수량을 기록함.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5) 부품(공정)이동표 : 제품 생산시 기종, 품명, 품번, 수량, LOT-NO, 작업일자, 작업수량,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작업자명 등을 표기하여 후공정으로 이동시 제품 용기에 붙이는 것.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0" y="142875"/>
            <a:ext cx="7742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2. LOT 추적성 관리 방안</a:t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437" y="1211262"/>
            <a:ext cx="9072562" cy="445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97" name="Google Shape;97;p15"/>
          <p:cNvSpPr/>
          <p:nvPr/>
        </p:nvSpPr>
        <p:spPr>
          <a:xfrm>
            <a:off x="2309812" y="1928812"/>
            <a:ext cx="6143625" cy="378618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00956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필요자료 : 작업일보,공정이동전표(꼬리식별표)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142875"/>
            <a:ext cx="77422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3.  공정이송표 작성 (예)</a:t>
            </a:r>
            <a:endParaRPr/>
          </a:p>
        </p:txBody>
      </p:sp>
      <p:grpSp>
        <p:nvGrpSpPr>
          <p:cNvPr id="104" name="Google Shape;104;p16"/>
          <p:cNvGrpSpPr/>
          <p:nvPr/>
        </p:nvGrpSpPr>
        <p:grpSpPr>
          <a:xfrm>
            <a:off x="344487" y="903287"/>
            <a:ext cx="7135601" cy="520700"/>
            <a:chOff x="385" y="572"/>
            <a:chExt cx="4521" cy="328"/>
          </a:xfrm>
        </p:grpSpPr>
        <p:grpSp>
          <p:nvGrpSpPr>
            <p:cNvPr id="105" name="Google Shape;105;p16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106" name="Google Shape;106;p16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07" name="Google Shape;107;p16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108" name="Google Shape;108;p16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09" name="Google Shape;109;p16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▣ 각 공정별 작성 예</a:t>
              </a:r>
              <a:endParaRPr/>
            </a:p>
          </p:txBody>
        </p:sp>
      </p:grpSp>
      <p:graphicFrame>
        <p:nvGraphicFramePr>
          <p:cNvPr id="110" name="Google Shape;110;p16"/>
          <p:cNvGraphicFramePr/>
          <p:nvPr/>
        </p:nvGraphicFramePr>
        <p:xfrm>
          <a:off x="238125" y="15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{65DEAB90-507D-4840-8DEB-915790A04391}</a:tableStyleId>
              </a:tblPr>
              <a:tblGrid>
                <a:gridCol w="935025"/>
                <a:gridCol w="2087550"/>
                <a:gridCol w="2087550"/>
                <a:gridCol w="2087550"/>
                <a:gridCol w="2087550"/>
              </a:tblGrid>
              <a:tr h="4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공정명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소재 입고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공정이동전표 작성 예시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6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SKETCH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11" name="Google Shape;111;p16"/>
          <p:cNvSpPr txBox="1"/>
          <p:nvPr/>
        </p:nvSpPr>
        <p:spPr>
          <a:xfrm>
            <a:off x="1309687" y="5286375"/>
            <a:ext cx="814387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소재 식별표 제조번호(Heat No) 기재        6. ⑤에 대한 박스 수량 및 팔레트(1PLT)  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소재 식별표 수량 기재            7. “A” 최초 공정 (작업일/공정/생산수량 ⑤항목 일치/작업자/공정검사)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소재 공급 업체 기재              8. “B” 최초 공정에서 후공정 이동시 해당작업자는 전표 확인후 작성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생산 품번 기재                   9. “C.D,F” 상기 내용과 동일하게 확인하여 작성을 한다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①,② 대한 작업 수량 기재       10. 작업시 부분적으로 부품 이동시 메인 내용을 필히 작성을 하여야한다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6562" y="2286000"/>
            <a:ext cx="2020887" cy="296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85712" y="2289175"/>
            <a:ext cx="2036762" cy="237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73275" y="2290762"/>
            <a:ext cx="20288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67187" y="2317750"/>
            <a:ext cx="197802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1125" y="2357438"/>
            <a:ext cx="1768475" cy="235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2875" y="2143125"/>
            <a:ext cx="4459288" cy="2928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6453187" y="25717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479675" y="3081337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916862" y="291147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578100" y="3983037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354137" y="4259262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4F8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3324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453187" y="2919412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4F8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3324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810125" y="25717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810125" y="293687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810125" y="3249612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687762" y="375920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689350" y="39560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690937" y="415290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692525" y="434022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684587" y="480377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3952875" y="2143125"/>
            <a:ext cx="4500562" cy="14287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167062" y="2786062"/>
            <a:ext cx="714375" cy="428625"/>
          </a:xfrm>
          <a:prstGeom prst="rightArrow">
            <a:avLst>
              <a:gd fmla="val 15120" name="adj1"/>
              <a:gd fmla="val 50000" name="adj2"/>
            </a:avLst>
          </a:prstGeom>
          <a:solidFill>
            <a:srgbClr val="BFBFBF"/>
          </a:solidFill>
          <a:ln cap="flat" cmpd="sng" w="25400">
            <a:solidFill>
              <a:srgbClr val="00956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메인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0" y="142875"/>
            <a:ext cx="77422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3.  공정이송표 작성 (예)</a:t>
            </a:r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>
            <a:off x="344487" y="903287"/>
            <a:ext cx="7135601" cy="520700"/>
            <a:chOff x="385" y="572"/>
            <a:chExt cx="4521" cy="328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142" name="Google Shape;142;p17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43" name="Google Shape;143;p17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144" name="Google Shape;144;p17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45" name="Google Shape;145;p17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▣ 각 공정별 작성 예</a:t>
              </a:r>
              <a:endParaRPr/>
            </a:p>
          </p:txBody>
        </p:sp>
      </p:grpSp>
      <p:graphicFrame>
        <p:nvGraphicFramePr>
          <p:cNvPr id="146" name="Google Shape;146;p17"/>
          <p:cNvGraphicFramePr/>
          <p:nvPr/>
        </p:nvGraphicFramePr>
        <p:xfrm>
          <a:off x="238125" y="15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{65DEAB90-507D-4840-8DEB-915790A04391}</a:tableStyleId>
              </a:tblPr>
              <a:tblGrid>
                <a:gridCol w="935025"/>
                <a:gridCol w="2087550"/>
                <a:gridCol w="2087550"/>
                <a:gridCol w="2087550"/>
                <a:gridCol w="2087550"/>
              </a:tblGrid>
              <a:tr h="4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공정명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소재 입고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rgbClr val="FF33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공정이동전표 작성 예시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6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SKETCH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9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46800" marB="46800" marR="90000" marL="900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800" marB="46800" marR="90000" marL="900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47" name="Google Shape;147;p17"/>
          <p:cNvSpPr txBox="1"/>
          <p:nvPr/>
        </p:nvSpPr>
        <p:spPr>
          <a:xfrm>
            <a:off x="1309687" y="5286375"/>
            <a:ext cx="814387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식별표 제조번호 기재        6. ⑤에 대한 박스 수량 및 팔레트(1PLT)  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소재중량 / 소재수량 기재    7. “A” 최초 공정 (작업일/공정/생산수량 ⑤항목 일치/작업자/공정검사)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생산 업체 기재              8. “B” 최초 공정에서 후공정 이동시 해당작업자는 전표 확인후 작성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생산 품번 기재              9. “C.D,F” 상기 내용과 동일하게 확인하여 작성을 한다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che"/>
              <a:buAutoNum type="arabicPeriod"/>
            </a:pPr>
            <a:r>
              <a:rPr b="1" i="0" lang="en-US" sz="1200" u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①,② 대한 작업 수량 기재   10. 작업시 부분적으로 부품 이동시 메인 내용을 필히 작성을 하여야한다</a:t>
            </a:r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6562" y="2286000"/>
            <a:ext cx="2020887" cy="296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85712" y="2289175"/>
            <a:ext cx="2036762" cy="237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73275" y="2290762"/>
            <a:ext cx="20288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67187" y="2317750"/>
            <a:ext cx="197802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2875" y="2143125"/>
            <a:ext cx="4459288" cy="29289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6453187" y="25717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916862" y="291147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453187" y="2919412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4F8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3324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810125" y="25717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④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810125" y="293687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⑤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810125" y="3249612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⑥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3687762" y="375920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3689350" y="39560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690937" y="415290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692525" y="434022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3684587" y="4803775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952875" y="2143125"/>
            <a:ext cx="4500562" cy="14287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8">
            <a:alphaModFix/>
          </a:blip>
          <a:srcRect b="10620" l="0" r="0" t="47668"/>
          <a:stretch/>
        </p:blipFill>
        <p:spPr>
          <a:xfrm>
            <a:off x="1166812" y="2214562"/>
            <a:ext cx="2349500" cy="2500312"/>
          </a:xfrm>
          <a:prstGeom prst="rect">
            <a:avLst/>
          </a:prstGeom>
          <a:noFill/>
          <a:ln>
            <a:noFill/>
          </a:ln>
          <a:effectLst>
            <a:outerShdw blurRad="63500" dir="2700000" dist="17960">
              <a:srgbClr val="007A5C"/>
            </a:outerShdw>
          </a:effectLst>
        </p:spPr>
      </p:pic>
      <p:sp>
        <p:nvSpPr>
          <p:cNvPr id="166" name="Google Shape;166;p17"/>
          <p:cNvSpPr txBox="1"/>
          <p:nvPr/>
        </p:nvSpPr>
        <p:spPr>
          <a:xfrm>
            <a:off x="2416175" y="360680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①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916862" y="2571750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844675" y="3500437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②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462087" y="2938462"/>
            <a:ext cx="357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4F8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3324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0" y="142875"/>
            <a:ext cx="77422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4. 각 공정 작업일보 및 공정이송표 작성요령</a:t>
            </a:r>
            <a:endParaRPr/>
          </a:p>
        </p:txBody>
      </p:sp>
      <p:grpSp>
        <p:nvGrpSpPr>
          <p:cNvPr id="176" name="Google Shape;176;p18"/>
          <p:cNvGrpSpPr/>
          <p:nvPr/>
        </p:nvGrpSpPr>
        <p:grpSpPr>
          <a:xfrm>
            <a:off x="344487" y="903287"/>
            <a:ext cx="7135601" cy="520700"/>
            <a:chOff x="385" y="572"/>
            <a:chExt cx="4521" cy="328"/>
          </a:xfrm>
        </p:grpSpPr>
        <p:grpSp>
          <p:nvGrpSpPr>
            <p:cNvPr id="177" name="Google Shape;177;p18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178" name="Google Shape;178;p18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79" name="Google Shape;179;p18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180" name="Google Shape;180;p18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81" name="Google Shape;181;p18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▣ CNC 가공 작업자  작성요령</a:t>
              </a:r>
              <a:endParaRPr/>
            </a:p>
          </p:txBody>
        </p:sp>
      </p:grpSp>
      <p:pic>
        <p:nvPicPr>
          <p:cNvPr descr="20121129_120851.jp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437" y="2643187"/>
            <a:ext cx="4714875" cy="35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738187" y="3929062"/>
            <a:ext cx="4000500" cy="461962"/>
          </a:xfrm>
          <a:prstGeom prst="rect">
            <a:avLst/>
          </a:prstGeom>
          <a:solidFill>
            <a:srgbClr val="C2FFF0"/>
          </a:solidFill>
          <a:ln cap="flat" cmpd="sng" w="9525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작업일, 작업자, 기종,  품번, 원소재 LOT NO,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공정수,  생산수량 기록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95375" y="3643312"/>
            <a:ext cx="1214437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523875" y="2857500"/>
            <a:ext cx="1214437" cy="4286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4595812" y="3643312"/>
            <a:ext cx="500062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66750" y="1858962"/>
            <a:ext cx="1285875" cy="14287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8" name="Google Shape;188;p18"/>
          <p:cNvCxnSpPr/>
          <p:nvPr/>
        </p:nvCxnSpPr>
        <p:spPr>
          <a:xfrm flipH="1" rot="-5400000">
            <a:off x="1393825" y="2501900"/>
            <a:ext cx="1643100" cy="500100"/>
          </a:xfrm>
          <a:prstGeom prst="bentConnector2">
            <a:avLst/>
          </a:prstGeom>
          <a:noFill/>
          <a:ln cap="flat" cmpd="sng" w="15875">
            <a:solidFill>
              <a:srgbClr val="FF0000"/>
            </a:solidFill>
            <a:prstDash val="solid"/>
            <a:miter lim="8000"/>
            <a:headEnd len="med" w="med" type="none"/>
            <a:tailEnd len="med" w="med" type="stealth"/>
          </a:ln>
        </p:spPr>
      </p:cxnSp>
      <p:sp>
        <p:nvSpPr>
          <p:cNvPr id="189" name="Google Shape;189;p18"/>
          <p:cNvSpPr txBox="1"/>
          <p:nvPr/>
        </p:nvSpPr>
        <p:spPr>
          <a:xfrm>
            <a:off x="2738437" y="3643312"/>
            <a:ext cx="357187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2309812" y="3643312"/>
            <a:ext cx="357187" cy="142875"/>
          </a:xfrm>
          <a:prstGeom prst="rect">
            <a:avLst/>
          </a:prstGeom>
          <a:noFill/>
          <a:ln cap="flat" cmpd="sng" w="25400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0" y="1412875"/>
            <a:ext cx="4032250" cy="504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0" y="142875"/>
            <a:ext cx="77422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4. 각 공정 작업일보 및 공정이송표 작성요령</a:t>
            </a:r>
            <a:endParaRPr/>
          </a:p>
        </p:txBody>
      </p:sp>
      <p:grpSp>
        <p:nvGrpSpPr>
          <p:cNvPr id="198" name="Google Shape;198;p19"/>
          <p:cNvGrpSpPr/>
          <p:nvPr/>
        </p:nvGrpSpPr>
        <p:grpSpPr>
          <a:xfrm>
            <a:off x="344487" y="903287"/>
            <a:ext cx="7135601" cy="520700"/>
            <a:chOff x="385" y="572"/>
            <a:chExt cx="4521" cy="328"/>
          </a:xfrm>
        </p:grpSpPr>
        <p:grpSp>
          <p:nvGrpSpPr>
            <p:cNvPr id="199" name="Google Shape;199;p19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200" name="Google Shape;200;p19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01" name="Google Shape;201;p19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202" name="Google Shape;202;p19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03" name="Google Shape;203;p19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▣ Lapping/Polishing 작업자  작성요령</a:t>
              </a:r>
              <a:endParaRPr/>
            </a:p>
          </p:txBody>
        </p:sp>
      </p:grpSp>
      <p:pic>
        <p:nvPicPr>
          <p:cNvPr descr="20121129_120851.jp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437" y="1785937"/>
            <a:ext cx="4714875" cy="4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666750" y="3429000"/>
            <a:ext cx="4000500" cy="461962"/>
          </a:xfrm>
          <a:prstGeom prst="rect">
            <a:avLst/>
          </a:prstGeom>
          <a:solidFill>
            <a:srgbClr val="C2FFF0"/>
          </a:solidFill>
          <a:ln cap="flat" cmpd="sng" w="9525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작업일, 작업자, 기종,  품번, 가공 LOT NO,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공정수,  생산수량 기록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95375" y="3071812"/>
            <a:ext cx="1214437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523875" y="2071687"/>
            <a:ext cx="1214437" cy="50006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4595812" y="3071812"/>
            <a:ext cx="500062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2309812" y="3071812"/>
            <a:ext cx="357187" cy="142875"/>
          </a:xfrm>
          <a:prstGeom prst="rect">
            <a:avLst/>
          </a:prstGeom>
          <a:noFill/>
          <a:ln cap="flat" cmpd="sng" w="25400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738437" y="3071812"/>
            <a:ext cx="357187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1784350" y="1428750"/>
            <a:ext cx="1500187" cy="438150"/>
          </a:xfrm>
          <a:prstGeom prst="rect">
            <a:avLst/>
          </a:prstGeom>
          <a:solidFill>
            <a:srgbClr val="85FFE0"/>
          </a:solidFill>
          <a:ln cap="flat" cmpd="sng" w="9525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b="1" i="0" lang="en-US" sz="1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가공  LOT  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b="1" i="0" lang="en-US" sz="1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생산일자)</a:t>
            </a:r>
            <a:endParaRPr/>
          </a:p>
        </p:txBody>
      </p:sp>
      <p:cxnSp>
        <p:nvCxnSpPr>
          <p:cNvPr id="212" name="Google Shape;212;p19"/>
          <p:cNvCxnSpPr/>
          <p:nvPr/>
        </p:nvCxnSpPr>
        <p:spPr>
          <a:xfrm rot="5400000">
            <a:off x="1932781" y="2496343"/>
            <a:ext cx="1143000" cy="1587"/>
          </a:xfrm>
          <a:prstGeom prst="straightConnector1">
            <a:avLst/>
          </a:prstGeom>
          <a:noFill/>
          <a:ln cap="flat" cmpd="sng" w="15875">
            <a:solidFill>
              <a:srgbClr val="3324F8"/>
            </a:solidFill>
            <a:prstDash val="solid"/>
            <a:miter lim="8000"/>
            <a:headEnd len="med" w="med" type="none"/>
            <a:tailEnd len="med" w="med" type="stealth"/>
          </a:ln>
        </p:spPr>
      </p:cxnSp>
      <p:pic>
        <p:nvPicPr>
          <p:cNvPr id="213" name="Google Shape;2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9262" y="1557337"/>
            <a:ext cx="4140200" cy="482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/>
        </p:nvSpPr>
        <p:spPr>
          <a:xfrm>
            <a:off x="0" y="6477000"/>
            <a:ext cx="9906000" cy="381000"/>
          </a:xfrm>
          <a:prstGeom prst="rect">
            <a:avLst/>
          </a:prstGeom>
          <a:solidFill>
            <a:srgbClr val="5479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0" y="142875"/>
            <a:ext cx="77422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4. 각 공정 작업일보 및 공정이송표 작성요령</a:t>
            </a:r>
            <a:endParaRPr/>
          </a:p>
        </p:txBody>
      </p:sp>
      <p:grpSp>
        <p:nvGrpSpPr>
          <p:cNvPr id="220" name="Google Shape;220;p20"/>
          <p:cNvGrpSpPr/>
          <p:nvPr/>
        </p:nvGrpSpPr>
        <p:grpSpPr>
          <a:xfrm>
            <a:off x="344487" y="903287"/>
            <a:ext cx="7135601" cy="520700"/>
            <a:chOff x="385" y="572"/>
            <a:chExt cx="4521" cy="328"/>
          </a:xfrm>
        </p:grpSpPr>
        <p:grpSp>
          <p:nvGrpSpPr>
            <p:cNvPr id="221" name="Google Shape;221;p20"/>
            <p:cNvGrpSpPr/>
            <p:nvPr/>
          </p:nvGrpSpPr>
          <p:grpSpPr>
            <a:xfrm>
              <a:off x="416" y="617"/>
              <a:ext cx="4490" cy="283"/>
              <a:chOff x="1152" y="912"/>
              <a:chExt cx="4128" cy="283"/>
            </a:xfrm>
          </p:grpSpPr>
          <p:sp>
            <p:nvSpPr>
              <p:cNvPr id="222" name="Google Shape;222;p20"/>
              <p:cNvSpPr txBox="1"/>
              <p:nvPr/>
            </p:nvSpPr>
            <p:spPr>
              <a:xfrm>
                <a:off x="1152" y="912"/>
                <a:ext cx="57" cy="22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23" name="Google Shape;223;p20"/>
              <p:cNvCxnSpPr/>
              <p:nvPr/>
            </p:nvCxnSpPr>
            <p:spPr>
              <a:xfrm>
                <a:off x="1152" y="1138"/>
                <a:ext cx="4071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2B2B2"/>
                </a:solidFill>
                <a:prstDash val="solid"/>
                <a:miter lim="8000"/>
                <a:headEnd len="med" w="med" type="none"/>
                <a:tailEnd len="med" w="med" type="none"/>
              </a:ln>
            </p:spPr>
          </p:cxnSp>
          <p:sp>
            <p:nvSpPr>
              <p:cNvPr id="224" name="Google Shape;224;p20"/>
              <p:cNvSpPr/>
              <p:nvPr/>
            </p:nvSpPr>
            <p:spPr>
              <a:xfrm>
                <a:off x="5167" y="1082"/>
                <a:ext cx="113" cy="11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25" name="Google Shape;225;p20"/>
            <p:cNvSpPr txBox="1"/>
            <p:nvPr/>
          </p:nvSpPr>
          <p:spPr>
            <a:xfrm>
              <a:off x="385" y="572"/>
              <a:ext cx="3175" cy="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▣ 세척/검사  작업자  작성요령</a:t>
              </a:r>
              <a:endParaRPr/>
            </a:p>
          </p:txBody>
        </p:sp>
      </p:grpSp>
      <p:pic>
        <p:nvPicPr>
          <p:cNvPr descr="20121129_120821.jp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562" y="2000250"/>
            <a:ext cx="4572000" cy="421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738187" y="3357562"/>
            <a:ext cx="1285875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09562" y="2428875"/>
            <a:ext cx="1143000" cy="50006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310062" y="3357562"/>
            <a:ext cx="500062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095500" y="3357562"/>
            <a:ext cx="357187" cy="142875"/>
          </a:xfrm>
          <a:prstGeom prst="rect">
            <a:avLst/>
          </a:prstGeom>
          <a:noFill/>
          <a:ln cap="flat" cmpd="sng" w="25400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524125" y="3357562"/>
            <a:ext cx="357187" cy="14287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579562" y="1643062"/>
            <a:ext cx="1285875" cy="438150"/>
          </a:xfrm>
          <a:prstGeom prst="rect">
            <a:avLst/>
          </a:prstGeom>
          <a:solidFill>
            <a:srgbClr val="85FFE0"/>
          </a:solidFill>
          <a:ln cap="flat" cmpd="sng" w="9525">
            <a:solidFill>
              <a:srgbClr val="3324F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b="1" i="0" lang="en-US" sz="1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앞공정   LOT  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b="1" i="0" lang="en-US" sz="11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(생산일자)</a:t>
            </a:r>
            <a:endParaRPr/>
          </a:p>
        </p:txBody>
      </p:sp>
      <p:cxnSp>
        <p:nvCxnSpPr>
          <p:cNvPr id="233" name="Google Shape;233;p20"/>
          <p:cNvCxnSpPr/>
          <p:nvPr/>
        </p:nvCxnSpPr>
        <p:spPr>
          <a:xfrm>
            <a:off x="2222500" y="2081212"/>
            <a:ext cx="26987" cy="1276350"/>
          </a:xfrm>
          <a:prstGeom prst="straightConnector1">
            <a:avLst/>
          </a:prstGeom>
          <a:noFill/>
          <a:ln cap="flat" cmpd="sng" w="15875">
            <a:solidFill>
              <a:srgbClr val="3324F8"/>
            </a:solidFill>
            <a:prstDash val="solid"/>
            <a:miter lim="8000"/>
            <a:headEnd len="med" w="med" type="none"/>
            <a:tailEnd len="med" w="med" type="stealth"/>
          </a:ln>
        </p:spPr>
      </p:cxnSp>
      <p:pic>
        <p:nvPicPr>
          <p:cNvPr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4437" y="1628775"/>
            <a:ext cx="4687887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