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06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06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 rot="5400000">
            <a:off x="4743450" y="2381250"/>
            <a:ext cx="54864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 rot="5400000">
            <a:off x="781050" y="514350"/>
            <a:ext cx="5486400" cy="56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 rot="5400000">
            <a:off x="2514600" y="152400"/>
            <a:ext cx="41148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/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sz="1600"/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/>
            </a:lvl9pPr>
          </a:lstStyle>
          <a:p/>
        </p:txBody>
      </p:sp>
      <p:sp>
        <p:nvSpPr>
          <p:cNvPr id="50" name="Google Shape;50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sz="1600"/>
            </a:lvl9pPr>
          </a:lstStyle>
          <a:p/>
        </p:txBody>
      </p:sp>
      <p:sp>
        <p:nvSpPr>
          <p:cNvPr id="51" name="Google Shape;51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/>
            </a:lvl9pPr>
          </a:lstStyle>
          <a:p/>
        </p:txBody>
      </p:sp>
      <p:sp>
        <p:nvSpPr>
          <p:cNvPr id="52" name="Google Shape;52;p8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" type="body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/>
            </a:lvl9pPr>
          </a:lstStyle>
          <a:p/>
        </p:txBody>
      </p:sp>
      <p:sp>
        <p:nvSpPr>
          <p:cNvPr id="58" name="Google Shape;58;p9"/>
          <p:cNvSpPr txBox="1"/>
          <p:nvPr>
            <p:ph idx="2" type="body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Char char="•"/>
              <a:defRPr b="0" i="0" sz="3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–"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5495925" y="1219200"/>
            <a:ext cx="3505200" cy="4876800"/>
          </a:xfrm>
          <a:prstGeom prst="roundRect">
            <a:avLst>
              <a:gd fmla="val 16667" name="adj"/>
            </a:avLst>
          </a:prstGeom>
          <a:solidFill>
            <a:srgbClr val="CC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cxnSp>
        <p:nvCxnSpPr>
          <p:cNvPr id="85" name="Google Shape;85;p13"/>
          <p:cNvCxnSpPr/>
          <p:nvPr/>
        </p:nvCxnSpPr>
        <p:spPr>
          <a:xfrm>
            <a:off x="2755900" y="1447800"/>
            <a:ext cx="0" cy="16843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med" w="med" type="none"/>
            <a:tailEnd len="med" w="med" type="none"/>
          </a:ln>
        </p:spPr>
      </p:cxnSp>
      <p:sp>
        <p:nvSpPr>
          <p:cNvPr id="86" name="Google Shape;86;p13"/>
          <p:cNvSpPr/>
          <p:nvPr/>
        </p:nvSpPr>
        <p:spPr>
          <a:xfrm>
            <a:off x="914400" y="3136900"/>
            <a:ext cx="3810000" cy="444500"/>
          </a:xfrm>
          <a:custGeom>
            <a:rect b="b" l="l" r="r" t="t"/>
            <a:pathLst>
              <a:path extrusionOk="0" h="542" w="6400">
                <a:moveTo>
                  <a:pt x="0" y="542"/>
                </a:moveTo>
                <a:lnTo>
                  <a:pt x="0" y="0"/>
                </a:lnTo>
                <a:lnTo>
                  <a:pt x="6400" y="0"/>
                </a:lnTo>
                <a:lnTo>
                  <a:pt x="6400" y="542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cxnSp>
        <p:nvCxnSpPr>
          <p:cNvPr id="87" name="Google Shape;87;p13"/>
          <p:cNvCxnSpPr/>
          <p:nvPr/>
        </p:nvCxnSpPr>
        <p:spPr>
          <a:xfrm>
            <a:off x="2108200" y="3124200"/>
            <a:ext cx="0" cy="342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med" w="med" type="none"/>
            <a:tailEnd len="med" w="med" type="none"/>
          </a:ln>
        </p:spPr>
      </p:cxnSp>
      <p:cxnSp>
        <p:nvCxnSpPr>
          <p:cNvPr id="88" name="Google Shape;88;p13"/>
          <p:cNvCxnSpPr/>
          <p:nvPr/>
        </p:nvCxnSpPr>
        <p:spPr>
          <a:xfrm>
            <a:off x="3429000" y="3124200"/>
            <a:ext cx="0" cy="342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med" w="med" type="none"/>
            <a:tailEnd len="med" w="med" type="none"/>
          </a:ln>
        </p:spPr>
      </p:cxnSp>
      <p:sp>
        <p:nvSpPr>
          <p:cNvPr id="89" name="Google Shape;89;p13"/>
          <p:cNvSpPr txBox="1"/>
          <p:nvPr/>
        </p:nvSpPr>
        <p:spPr>
          <a:xfrm>
            <a:off x="2095500" y="1295400"/>
            <a:ext cx="1333500" cy="404812"/>
          </a:xfrm>
          <a:prstGeom prst="rect">
            <a:avLst/>
          </a:prstGeom>
          <a:solidFill>
            <a:srgbClr val="FFFF99"/>
          </a:solidFill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63500" dir="2700000" dist="53881">
              <a:schemeClr val="dk1">
                <a:alpha val="5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</a:pPr>
            <a:r>
              <a:rPr b="1" i="0" lang="en-US" sz="12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대 책  본 부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357312" y="1928812"/>
            <a:ext cx="2808287" cy="10080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             ㅡ 대표이사  : 김명권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                 * 연락처 :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81000" y="3365500"/>
            <a:ext cx="915987" cy="385762"/>
          </a:xfrm>
          <a:prstGeom prst="rect">
            <a:avLst/>
          </a:prstGeom>
          <a:solidFill>
            <a:srgbClr val="FFFF99"/>
          </a:solidFill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63500" dir="2700000" dist="53881">
              <a:schemeClr val="dk1">
                <a:alpha val="5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피 해 자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지 원 팀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674812" y="3365500"/>
            <a:ext cx="915987" cy="385762"/>
          </a:xfrm>
          <a:prstGeom prst="rect">
            <a:avLst/>
          </a:prstGeom>
          <a:solidFill>
            <a:srgbClr val="FFFF99"/>
          </a:solidFill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63500" dir="2700000" dist="53881">
              <a:schemeClr val="dk1">
                <a:alpha val="5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피     해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복 구 팀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2970212" y="3365500"/>
            <a:ext cx="915987" cy="385762"/>
          </a:xfrm>
          <a:prstGeom prst="rect">
            <a:avLst/>
          </a:prstGeom>
          <a:solidFill>
            <a:srgbClr val="FFFF99"/>
          </a:solidFill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63500" dir="2700000" dist="53881">
              <a:schemeClr val="dk1">
                <a:alpha val="5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사     고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조 사 팀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4265612" y="3365500"/>
            <a:ext cx="915987" cy="385762"/>
          </a:xfrm>
          <a:prstGeom prst="rect">
            <a:avLst/>
          </a:prstGeom>
          <a:solidFill>
            <a:srgbClr val="FFFF99"/>
          </a:solidFill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63500" dir="2700000" dist="53881">
              <a:schemeClr val="dk1">
                <a:alpha val="5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대     외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홍 보 팀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258762" y="3860800"/>
            <a:ext cx="1144587" cy="9921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제조팀장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t/>
            </a:r>
            <a:endParaRPr b="1" i="0" sz="10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/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t/>
            </a:r>
            <a:endParaRPr b="1" i="0" sz="10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* 연락처 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5643562" y="1443037"/>
            <a:ext cx="3200400" cy="4362450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t/>
            </a:r>
            <a:endParaRPr b="1" i="0" sz="10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1.  대책본부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   비상사태발생시 이의 수습을 위한 총괄지휘를 하며,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   비상연락망,랜턴 등의 응급장구 및 안전보호장비를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   확보해야 한다.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t/>
            </a:r>
            <a:endParaRPr b="1" i="0" sz="10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2. 피해자 지원팀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  (1) 피해자 후송과 치료 전반</a:t>
            </a:r>
            <a:b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</a:b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  (2) 피해우려지역 대피 및 피해자지원</a:t>
            </a:r>
            <a:b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</a:b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  (3) 피해자 조사,보험협의 및 장례운영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b="1" i="0" lang="en-US" sz="1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3. 피해 복구팀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  (1) 사고현장확인,보존 및 증거기록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     🡪 증거가 필요한 부분에 한함</a:t>
            </a:r>
            <a:b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</a:b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  (2) 환경 오염물의 차단, 전기 및 에너지원 통제</a:t>
            </a:r>
            <a:b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</a:b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  (3) 재해발생 상황별 대응</a:t>
            </a:r>
            <a:b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</a:b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  (4) 후속 사고 예방활동</a:t>
            </a:r>
            <a:b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</a:b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  (5) 현장복구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t/>
            </a:r>
            <a:endParaRPr b="1" i="0" sz="10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4. 사고 조사팀</a:t>
            </a:r>
            <a:b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</a:b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  (1) 사고현장 기록유지</a:t>
            </a:r>
            <a:b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</a:b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  (2) 원인조사 및 재발방지 대책수립</a:t>
            </a:r>
            <a:b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</a:b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  (3) 관계기관 섭외 및 정보수집</a:t>
            </a:r>
            <a:b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</a:br>
            <a:b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</a:b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5. 대외 홍보팀</a:t>
            </a:r>
            <a:b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</a:b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  (1) 언론기관 섭외 및 통제</a:t>
            </a:r>
            <a:b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</a:b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  (2) 대외 발표자료 작성 배포(필요 시)</a:t>
            </a:r>
            <a:b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</a:b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  (3) 지역주민 홍보 </a:t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5791200" y="762000"/>
            <a:ext cx="1447800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대책위원회 임무</a:t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1557337" y="476250"/>
            <a:ext cx="2438400" cy="533400"/>
          </a:xfrm>
          <a:prstGeom prst="roundRect">
            <a:avLst>
              <a:gd fmla="val 16667" name="adj"/>
            </a:avLst>
          </a:prstGeom>
          <a:solidFill>
            <a:srgbClr val="CCFFFF"/>
          </a:solidFill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</a:pPr>
            <a:r>
              <a:rPr b="1" i="0" lang="en-US" sz="12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비상사태 조직도 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7391400" y="754062"/>
            <a:ext cx="1312862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작성일 : 2025.12월</a:t>
            </a:r>
            <a:endParaRPr/>
          </a:p>
        </p:txBody>
      </p:sp>
      <p:sp>
        <p:nvSpPr>
          <p:cNvPr id="100" name="Google Shape;100;p13"/>
          <p:cNvSpPr/>
          <p:nvPr/>
        </p:nvSpPr>
        <p:spPr>
          <a:xfrm>
            <a:off x="228600" y="5168900"/>
            <a:ext cx="1371600" cy="1068387"/>
          </a:xfrm>
          <a:prstGeom prst="homePlate">
            <a:avLst>
              <a:gd fmla="val 50000" name="adj"/>
            </a:avLst>
          </a:prstGeom>
          <a:solidFill>
            <a:srgbClr val="CCFFFF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</a:pPr>
            <a:r>
              <a:rPr b="1" i="0" lang="en-US" sz="12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이해 관계자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</a:pPr>
            <a:r>
              <a:rPr b="1" i="0" lang="en-US" sz="12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비상연락 망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250825" y="6526212"/>
            <a:ext cx="8893175" cy="287337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주식회사엠에스티</a:t>
            </a:r>
            <a:endParaRPr/>
          </a:p>
        </p:txBody>
      </p:sp>
      <p:cxnSp>
        <p:nvCxnSpPr>
          <p:cNvPr id="102" name="Google Shape;102;p13"/>
          <p:cNvCxnSpPr/>
          <p:nvPr/>
        </p:nvCxnSpPr>
        <p:spPr>
          <a:xfrm>
            <a:off x="0" y="6453187"/>
            <a:ext cx="9144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med" w="med" type="none"/>
            <a:tailEnd len="med" w="med" type="none"/>
          </a:ln>
        </p:spPr>
      </p:cxnSp>
      <p:sp>
        <p:nvSpPr>
          <p:cNvPr id="103" name="Google Shape;103;p13"/>
          <p:cNvSpPr txBox="1"/>
          <p:nvPr/>
        </p:nvSpPr>
        <p:spPr>
          <a:xfrm>
            <a:off x="1571625" y="3857625"/>
            <a:ext cx="1144587" cy="9921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개발팀장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t/>
            </a:r>
            <a:endParaRPr b="1" i="0" sz="10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/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t/>
            </a:r>
            <a:endParaRPr b="1" i="0" sz="10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* 연락처 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2857500" y="3857625"/>
            <a:ext cx="1144587" cy="9921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관리팀장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t/>
            </a:r>
            <a:endParaRPr b="1" i="0" sz="10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/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t/>
            </a:r>
            <a:endParaRPr b="1" i="0" sz="10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* 연락처 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4143375" y="3857625"/>
            <a:ext cx="1144587" cy="9921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품질팀장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t/>
            </a:r>
            <a:endParaRPr b="1" i="0" sz="10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/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t/>
            </a:r>
            <a:endParaRPr b="1" i="0" sz="10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* 연락처 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1643062" y="5143500"/>
            <a:ext cx="3714750" cy="1068387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- 천안시 서북구청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- 천안서북경찰서 : 112(긴급)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- 천안서북소방서 : 119(화재·구급)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b="1" i="0" lang="en-US" sz="1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 - 응급의료 : 119 구급 요청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