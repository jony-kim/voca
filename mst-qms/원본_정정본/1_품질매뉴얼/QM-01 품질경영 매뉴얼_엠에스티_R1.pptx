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9906000" cx="6858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B35DE3-16E4-4932-8729-AB3533D58345}">
  <a:tblStyle styleId="{D2B35DE3-16E4-4932-8729-AB3533D583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CB5D83EC-3860-4DBF-840B-88FDCBC7161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5"/>
          </a:solidFill>
        </a:fill>
      </a:tcStyle>
    </a:wholeTbl>
    <a:band1H>
      <a:tcTxStyle/>
      <a:tcStyle>
        <a:fill>
          <a:solidFill>
            <a:srgbClr val="CEE2EA"/>
          </a:solidFill>
        </a:fill>
      </a:tcStyle>
    </a:band1H>
    <a:band2H>
      <a:tcTxStyle/>
    </a:band2H>
    <a:band1V>
      <a:tcTxStyle/>
      <a:tcStyle>
        <a:fill>
          <a:solidFill>
            <a:srgbClr val="CEE2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31328ED7-900F-424C-A5DA-6A9405938D43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AFF6DE91-3B84-4EA3-B8A4-9A42FE6407A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597D149-3413-4337-9828-306298F16C03}" styleName="Table_4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9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0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1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2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3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4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5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6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6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47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7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8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8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:notes"/>
          <p:cNvSpPr/>
          <p:nvPr>
            <p:ph idx="2" type="sldImg"/>
          </p:nvPr>
        </p:nvSpPr>
        <p:spPr>
          <a:xfrm>
            <a:off x="2239963" y="1241425"/>
            <a:ext cx="231775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49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9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>
  <p:cSld name="세로 제목 및 텍스트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3"/>
          <p:cNvGraphicFramePr/>
          <p:nvPr/>
        </p:nvGraphicFramePr>
        <p:xfrm>
          <a:off x="9823" y="11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{D2B35DE3-16E4-4932-8729-AB3533D58345}</a:tableStyleId>
              </a:tblPr>
              <a:tblGrid>
                <a:gridCol w="1700900"/>
                <a:gridCol w="3474200"/>
                <a:gridCol w="1660725"/>
              </a:tblGrid>
              <a:tr h="80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00" marB="27900" marR="55725" marL="5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00" marB="27900" marR="55725" marL="5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900" marB="27900" marR="55725" marL="5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" name="Google Shape;18;p3"/>
          <p:cNvCxnSpPr/>
          <p:nvPr/>
        </p:nvCxnSpPr>
        <p:spPr>
          <a:xfrm>
            <a:off x="0" y="9543614"/>
            <a:ext cx="68445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/>
        </p:nvSpPr>
        <p:spPr>
          <a:xfrm>
            <a:off x="1986254" y="9655645"/>
            <a:ext cx="3217055" cy="159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600" lIns="10600" spcFirstLastPara="1" rIns="10600" wrap="square" tIns="106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Copyright ⓒ 2025 MST. Co., Ltd.</a:t>
            </a:r>
            <a:endParaRPr b="0" i="0" sz="9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13655" y="62699"/>
            <a:ext cx="10775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Issued Date 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263091" y="283297"/>
            <a:ext cx="82812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Rev. No. 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516219" y="503894"/>
            <a:ext cx="5749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48321" y="64071"/>
            <a:ext cx="8961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2025.05.28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295134" y="283297"/>
            <a:ext cx="25680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144453" y="503894"/>
            <a:ext cx="5581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/49</a:t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984" y="128975"/>
            <a:ext cx="1395968" cy="466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25" lIns="53875" spcFirstLastPara="1" rIns="53875" wrap="square" tIns="269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7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9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8"/>
            <a:ext cx="1543050" cy="527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25" lIns="53875" spcFirstLastPara="1" rIns="53875" wrap="square" tIns="26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8"/>
            <a:ext cx="2314575" cy="527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25" lIns="53875" spcFirstLastPara="1" rIns="53875" wrap="square" tIns="26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8"/>
            <a:ext cx="1543050" cy="527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25" lIns="53875" spcFirstLastPara="1" rIns="53875" wrap="square" tIns="26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755795" y="1439743"/>
            <a:ext cx="5392629" cy="122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품질경영 매뉴얼</a:t>
            </a:r>
            <a:endParaRPr b="1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Quality Management Manual</a:t>
            </a:r>
            <a:endParaRPr/>
          </a:p>
        </p:txBody>
      </p:sp>
      <p:graphicFrame>
        <p:nvGraphicFramePr>
          <p:cNvPr id="33" name="Google Shape;33;p4"/>
          <p:cNvGraphicFramePr/>
          <p:nvPr/>
        </p:nvGraphicFramePr>
        <p:xfrm>
          <a:off x="1615648" y="639938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{CB5D83EC-3860-4DBF-840B-88FDCBC7161C}</a:tableStyleId>
              </a:tblPr>
              <a:tblGrid>
                <a:gridCol w="1224075"/>
                <a:gridCol w="2448850"/>
              </a:tblGrid>
              <a:tr h="40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Doc. No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QM-01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0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Rev. Date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2025.05.28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Rev. No.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8575" marL="3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892" y="8804365"/>
            <a:ext cx="2146433" cy="71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/>
        </p:nvSpPr>
        <p:spPr>
          <a:xfrm>
            <a:off x="2003577" y="129267"/>
            <a:ext cx="2891617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제A장_목차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(Contents of Quality Management Manual)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" name="Google Shape;41;p5"/>
          <p:cNvGraphicFramePr/>
          <p:nvPr/>
        </p:nvGraphicFramePr>
        <p:xfrm>
          <a:off x="214596" y="95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{31328ED7-900F-424C-A5DA-6A9405938D43}</a:tableStyleId>
              </a:tblPr>
              <a:tblGrid>
                <a:gridCol w="826925"/>
                <a:gridCol w="1313325"/>
                <a:gridCol w="3385550"/>
                <a:gridCol w="914400"/>
              </a:tblGrid>
              <a:tr h="500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요구사항 번호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제A장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목차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제B장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개정이력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제0장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머리말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제C장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품질방침 및 목표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제D장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회사 소개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제E장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조직 구조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제1장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범위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제2장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인용표준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제3장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용어 및 정의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제4장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조직의 상황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제5장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리더십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제6장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제7장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지원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제8장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운용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제9장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성과평가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제10장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10.0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제F장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상호 식별관계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제G장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절차서/지침서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1730828" y="121104"/>
            <a:ext cx="3429000" cy="56265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제B장_개정이력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(Rev. Sheet of Quality Management Manual)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" name="Google Shape;47;p6"/>
          <p:cNvGraphicFramePr/>
          <p:nvPr/>
        </p:nvGraphicFramePr>
        <p:xfrm>
          <a:off x="121104" y="9704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{AFF6DE91-3B84-4EA3-B8A4-9A42FE6407A9}</a:tableStyleId>
              </a:tblPr>
              <a:tblGrid>
                <a:gridCol w="364450"/>
                <a:gridCol w="728875"/>
                <a:gridCol w="634400"/>
                <a:gridCol w="3131475"/>
                <a:gridCol w="877350"/>
                <a:gridCol w="809875"/>
              </a:tblGrid>
              <a:tr h="46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Doc. No.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Rev.No.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Rev.Date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Remark</a:t>
                      </a:r>
                      <a:endParaRPr b="1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QM-01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품질경영시스템 신규 제정</a:t>
                      </a:r>
                      <a:endParaRPr/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2025.05.28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90000" marL="90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724025" y="134371"/>
            <a:ext cx="3429000" cy="56265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제0장_머리말</a:t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(Introduction)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0" y="981037"/>
            <a:ext cx="6858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440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 매뉴얼에는 엠에스티(이하 당사라 한다)에서 생산하는 제품의 품질활동 및 서비스를 경제적이고 효율적으로 보증하는데 필요한 품질 방침들이 수록되어 있으며, 이러한 품질 방침들은 활동을 수행하는 사내 전부문과 그 구성원들에게 제공되고 방침의 실행을 위한 체계적이고 보다 구체적인 활동의 지침으로 사용한다.</a:t>
            </a:r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0" y="2693768"/>
            <a:ext cx="6858000" cy="92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440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작성 </a:t>
            </a: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(Prepared)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품질총괄   최 용 화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7"/>
          <p:cNvCxnSpPr/>
          <p:nvPr/>
        </p:nvCxnSpPr>
        <p:spPr>
          <a:xfrm>
            <a:off x="1963785" y="3593840"/>
            <a:ext cx="1296144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"/>
            <a:headEnd len="sm" w="sm" type="none"/>
            <a:tailEnd len="sm" w="sm" type="none"/>
          </a:ln>
        </p:spPr>
      </p:cxnSp>
      <p:sp>
        <p:nvSpPr>
          <p:cNvPr id="56" name="Google Shape;56;p7"/>
          <p:cNvSpPr txBox="1"/>
          <p:nvPr/>
        </p:nvSpPr>
        <p:spPr>
          <a:xfrm>
            <a:off x="0" y="4052374"/>
            <a:ext cx="3429000" cy="341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440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동의 </a:t>
            </a: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(Committed)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구매/영업</a:t>
            </a:r>
            <a:b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대리        강 동 휘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제조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주임       장 민 석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제조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사원      김 용 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7"/>
          <p:cNvCxnSpPr/>
          <p:nvPr/>
        </p:nvCxnSpPr>
        <p:spPr>
          <a:xfrm>
            <a:off x="1963785" y="5077832"/>
            <a:ext cx="1296144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"/>
            <a:headEnd len="sm" w="sm" type="none"/>
            <a:tailEnd len="sm" w="sm" type="none"/>
          </a:ln>
        </p:spPr>
      </p:cxnSp>
      <p:sp>
        <p:nvSpPr>
          <p:cNvPr id="58" name="Google Shape;58;p7"/>
          <p:cNvSpPr txBox="1"/>
          <p:nvPr/>
        </p:nvSpPr>
        <p:spPr>
          <a:xfrm>
            <a:off x="0" y="8267247"/>
            <a:ext cx="6858000" cy="865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440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승인 </a:t>
            </a: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(Prepared)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주식회사엠에스티 대표이사       </a:t>
            </a: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김    맹   권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7"/>
          <p:cNvCxnSpPr/>
          <p:nvPr/>
        </p:nvCxnSpPr>
        <p:spPr>
          <a:xfrm>
            <a:off x="1963785" y="5776032"/>
            <a:ext cx="1296144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60" name="Google Shape;60;p7"/>
          <p:cNvCxnSpPr/>
          <p:nvPr/>
        </p:nvCxnSpPr>
        <p:spPr>
          <a:xfrm>
            <a:off x="1963785" y="6474232"/>
            <a:ext cx="1296144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61" name="Google Shape;61;p7"/>
          <p:cNvCxnSpPr/>
          <p:nvPr/>
        </p:nvCxnSpPr>
        <p:spPr>
          <a:xfrm>
            <a:off x="3429000" y="9156199"/>
            <a:ext cx="1296144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733550" y="134371"/>
            <a:ext cx="3429000" cy="56265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제C장_품질방침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(Quality Policy)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308858" y="1328967"/>
            <a:ext cx="6717591" cy="7837812"/>
            <a:chOff x="308858" y="1328967"/>
            <a:chExt cx="6717591" cy="7837812"/>
          </a:xfrm>
        </p:grpSpPr>
        <p:sp>
          <p:nvSpPr>
            <p:cNvPr id="68" name="Google Shape;68;p8"/>
            <p:cNvSpPr/>
            <p:nvPr/>
          </p:nvSpPr>
          <p:spPr>
            <a:xfrm>
              <a:off x="2182990" y="1341944"/>
              <a:ext cx="2373658" cy="491079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1" i="0">
                  <a:ln>
                    <a:noFill/>
                  </a:ln>
                  <a:solidFill>
                    <a:srgbClr val="C0C0C0"/>
                  </a:solidFill>
                  <a:latin typeface="Malgun Gothic"/>
                </a:rPr>
                <a:t>품질방침</a:t>
              </a: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308858" y="2158858"/>
              <a:ext cx="6237559" cy="1650517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주식회사엠에스티의 전 임직원이 품질 책임을 명확히 인식하고, 각자의 업무가</a:t>
              </a:r>
              <a:b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고객 품질과 직결 된다는 점을 바탕으로 품질 향상에 기여 한다. 품질경영활동</a:t>
              </a:r>
              <a:b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은 품질시스템 국제 표준 규격에 바탕을 두고 있으며 전 사원은 본 품질방침과 </a:t>
              </a:r>
              <a:b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품질경영시스템을 이해 하고, 반드시 규정을 준수 하여야 한다. 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2148979" y="1328967"/>
              <a:ext cx="2373658" cy="48649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1" i="0">
                  <a:ln>
                    <a:noFill/>
                  </a:ln>
                  <a:solidFill>
                    <a:srgbClr val="000099"/>
                  </a:solidFill>
                  <a:latin typeface="Arial"/>
                </a:rPr>
                <a:t>품질방침</a:t>
              </a:r>
            </a:p>
          </p:txBody>
        </p:sp>
        <p:sp>
          <p:nvSpPr>
            <p:cNvPr id="71" name="Google Shape;71;p8"/>
            <p:cNvSpPr txBox="1"/>
            <p:nvPr/>
          </p:nvSpPr>
          <p:spPr>
            <a:xfrm>
              <a:off x="4764309" y="8605190"/>
              <a:ext cx="1782108" cy="299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6575" wrap="square" tIns="365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주식회사엠에스티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8"/>
            <p:cNvSpPr txBox="1"/>
            <p:nvPr/>
          </p:nvSpPr>
          <p:spPr>
            <a:xfrm>
              <a:off x="4551583" y="8788042"/>
              <a:ext cx="1292406" cy="37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2000" lIns="0" spcFirstLastPara="1" rIns="36575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대표이사  </a:t>
              </a:r>
              <a:r>
                <a:rPr b="1" i="0" lang="ko-KR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김 맹 권</a:t>
              </a:r>
              <a:endParaRPr/>
            </a:p>
          </p:txBody>
        </p:sp>
        <p:sp>
          <p:nvSpPr>
            <p:cNvPr id="73" name="Google Shape;73;p8"/>
            <p:cNvSpPr txBox="1"/>
            <p:nvPr/>
          </p:nvSpPr>
          <p:spPr>
            <a:xfrm>
              <a:off x="5322032" y="8220200"/>
              <a:ext cx="1197176" cy="177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6575" wrap="square" tIns="320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2025. 05. 28</a:t>
              </a:r>
              <a:endParaRPr/>
            </a:p>
          </p:txBody>
        </p:sp>
        <p:sp>
          <p:nvSpPr>
            <p:cNvPr id="74" name="Google Shape;74;p8"/>
            <p:cNvSpPr txBox="1"/>
            <p:nvPr/>
          </p:nvSpPr>
          <p:spPr>
            <a:xfrm>
              <a:off x="979350" y="4241401"/>
              <a:ext cx="6047099" cy="3903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 고객중심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현재 고객의 요구와 잠재적 고객의 요구를 파악하고,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이에 부응하기 위한 제품과 서비스를 제공한다.</a:t>
              </a:r>
              <a:b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* 목표 하나. </a:t>
              </a:r>
              <a:r>
                <a:rPr b="1" i="0" lang="ko-KR" sz="1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고객 불량 제로화 유지 </a:t>
              </a:r>
              <a:br>
                <a:rPr b="1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* 목표 하나. </a:t>
              </a:r>
              <a:r>
                <a:rPr b="1" i="0" lang="ko-KR" sz="1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고객 납기 준수 100% 달성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 창조적 제품개발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지역과 기술의 한계를 뛰어 넘는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창조적 도전정신으로 신제품을 개발한다.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 규정준수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품질경영시스템의 규정에 따라, 실현 가능한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세부기준을 수립하고, 수립된 기준은 철저히 이행한다.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 지속적 개선과 기업체질 개선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쓸모 없는 것은 버리고, 효과 있는 것은 강력히 개선하여,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끊임없이 기업체질을 개선한다.</a:t>
              </a:r>
              <a:b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1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* 목표 하나. </a:t>
              </a:r>
              <a:r>
                <a:rPr b="1" i="0" lang="ko-KR" sz="1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사내 재작업률 월 10건 이하 유지 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5. 긴밀한 협력업체 관리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협력업체와의 원활한 의사소통을 보장하고,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상호신뢰에 바탕을 둔 긴밀한 파트너십을 유지한다.</a:t>
              </a:r>
              <a:b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1" i="0" lang="ko-KR" sz="14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* 목표 하나. </a:t>
              </a:r>
              <a:r>
                <a:rPr b="1" i="0" lang="ko-KR" sz="1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협력사 품질 B등급 이상 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308858" y="3455740"/>
              <a:ext cx="6237559" cy="1146418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우리는 다음의 활동을 통하여 회사의 가치를 창조하고, 품질경영시스템을 지속적으로 개선시켜 나간다.</a:t>
              </a:r>
              <a:endParaRPr/>
            </a:p>
          </p:txBody>
        </p:sp>
      </p:grpSp>
      <p:sp>
        <p:nvSpPr>
          <p:cNvPr id="76" name="Google Shape;76;p8"/>
          <p:cNvSpPr/>
          <p:nvPr/>
        </p:nvSpPr>
        <p:spPr>
          <a:xfrm>
            <a:off x="188640" y="1001486"/>
            <a:ext cx="6459810" cy="8243204"/>
          </a:xfrm>
          <a:prstGeom prst="rect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858" y="8777001"/>
            <a:ext cx="1340984" cy="44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/>
        </p:nvSpPr>
        <p:spPr>
          <a:xfrm>
            <a:off x="1712686" y="122217"/>
            <a:ext cx="345440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제D장_회사소개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(Company Profile)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8924" y="945572"/>
            <a:ext cx="6695121" cy="264286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D.1 회사개요	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회사설립일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2015. 07. 03 		</a:t>
            </a:r>
            <a:endParaRPr/>
          </a:p>
          <a:p>
            <a:pPr indent="-7620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대 표 이 사           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김 맹 권		</a:t>
            </a:r>
            <a:endParaRPr/>
          </a:p>
          <a:p>
            <a:pPr indent="-63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공 장 위 치           천안시 서북구 백석공단1로 10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홈페이지              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D.2 회사연혁		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2015. 07 : 주식회사 엠에스티 설립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/>
        </p:nvSpPr>
        <p:spPr>
          <a:xfrm>
            <a:off x="1714500" y="122217"/>
            <a:ext cx="3442692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제D장_회사소개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(Company Profile)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88924" y="945572"/>
            <a:ext cx="6695121" cy="38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D.3 수상 및 인증 현황	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2015. 07 : </a:t>
            </a: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D.4  생산제품</a:t>
            </a: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/>
          <p:nvPr/>
        </p:nvSpPr>
        <p:spPr>
          <a:xfrm>
            <a:off x="88924" y="945572"/>
            <a:ext cx="6695121" cy="383607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D.5 시스템 적용범위 (인증범위)	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- 반도체 장비 부품 (Chuck) 생산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D.6 주요 고객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/>
          </a:p>
        </p:txBody>
      </p:sp>
      <p:pic>
        <p:nvPicPr>
          <p:cNvPr id="95" name="Google Shape;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" y="4695250"/>
            <a:ext cx="6868477" cy="39532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1"/>
          <p:cNvSpPr txBox="1"/>
          <p:nvPr/>
        </p:nvSpPr>
        <p:spPr>
          <a:xfrm>
            <a:off x="1712686" y="122217"/>
            <a:ext cx="345440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제D장_회사소개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(Company Profile)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/>
        </p:nvSpPr>
        <p:spPr>
          <a:xfrm>
            <a:off x="1719690" y="122217"/>
            <a:ext cx="3438761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제E장_조직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(Organization)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8924" y="945572"/>
            <a:ext cx="6695121" cy="6329069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E.1 조직도	</a:t>
            </a:r>
            <a:endParaRPr b="1" i="0" sz="1400" u="none" cap="none" strike="noStrik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23434"/>
            <a:ext cx="6858000" cy="3460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151312" y="955097"/>
            <a:ext cx="6535238" cy="4400720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1.1 일반 사항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품질경영매뉴얼은 ISO9001:2015 품질경영시스템 요구사항에 적합하도록 주식회사엠에스티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(이하‘당사’라 한다)의 품질경영시스템에 대한 요구사항을 규정한다.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ⓐ 고객 요구사항과 적용되는 법적 및 규제적 요구사항을 충족하는 제품 및 서비스를 일관성 있게	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제공하는 능력을 실증할 니즈가 있는 경우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ⓑ 시스템 개선을 위한 프로세스들, 그리고 고객 요구사항과 적용되는 법적 및 규제적 요구사항에	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적합함을 보증하기 위한 프로세스를 포함하는 시스템의 효과적인 적용을 통하여 고객만족을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증진시키고자 하는 경우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1.2 상세 적용범위 및 적용제외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매뉴얼은 당사에서 제조하는 제품에 대하여 적용하며 ISO9001:2015 표준과 관련한 요구사항 중 </a:t>
            </a:r>
            <a:b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적용을 제외하는 항목은 없다.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&lt;시스템 적용 범위_인증범위 &gt;		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반도체 장비 부품 (Chuck) 생산 	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714500" y="122217"/>
            <a:ext cx="3457575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제1장_적용범위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(Scope)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/>
        </p:nvSpPr>
        <p:spPr>
          <a:xfrm>
            <a:off x="1702676" y="122217"/>
            <a:ext cx="348417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제2장_인용표준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(Normative references)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1312" y="955097"/>
            <a:ext cx="6535238" cy="1099817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2.0 인용 표준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다음의 인용표준은 전체 또는 부분적으로 이 표준의 적용을 위해 필수적이다. 발행연도가 표기된 </a:t>
            </a:r>
            <a:b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인용표준은 인용된 판만을 적용한다. 발행연도가 표기되지 않은 인용표준은 최신판(모든 추록을 포함)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을 적용한다.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140" y="2054914"/>
            <a:ext cx="5498275" cy="292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582" y="5260768"/>
            <a:ext cx="5246835" cy="413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51312" y="955097"/>
            <a:ext cx="6535238" cy="6870627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매뉴얼 및 당사 품질경영시스템에서 사용되는 용어의 정의는 다음과 같으며 일반적인 용어는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9000:2015품질경영시스템- 기본사항과 용어에서 정하는 정의에 따른다.	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1) 조직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책임, 권한 및 상호관계의 명령체계를 갖는 사람 및 집단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2) 고객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제품을 제공받는 조직 또는 사람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3) 공급자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소재나 물품을 제공하는 조직 또는 사람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4) 고객 중시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품질경영의 가장 중요한 초점은 고객 요구사항을 충족시키고, 고객의 기대를 능가하기 위해 노력하는 것이다.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5) 증거기반 의사결정</a:t>
            </a:r>
            <a:endParaRPr b="1"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의사결정은 복잡한 프로세스가 될 수 있고, 항상 어느 정도의 불확실성을 수반한다. 의사결정은 주관적일 수 있는 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해석뿐만 아니라, 여러 유형과 원천의 입력을 종종 포함한다. 인과 관계와 잠재적이고 의도하지 않은 결과를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이해하는 것이 중요하다. 사실, 증거 및 데이터 분석은 의사결정에 대하여 더 큰 객관성과 신뢰성을 높인다.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6) 인원의 적극참여 </a:t>
            </a:r>
            <a:endParaRPr b="1"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조직 전반에 걸쳐 모든 계층에서 역량과 권한을 갖고 적극참여하는 인원은, 가치를 창출하고 전달하는 조직의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능력 증진에 필수적이다.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 7) 권한위임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 내에서 승인(Permissions) 또는 제재를 주거나 거부함과 관련된 권리 및 책임을 규정하는 인원에 대한 문서화된 승인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51312" y="955097"/>
            <a:ext cx="6535238" cy="868753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8) 시도(마스터) 부품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실수방지기기 또는 점검 고정구(예를 들면 고/노-고 게이지)의 기능성을 타당성 확인하는데 사용 되는 기대 결과(합격 또는 불합격)에 따라 표준으로 추적하고 교정된 알려진(기지) 시방의 부품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9) 관리계획서(Control Plan)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제품의 제조를 관리하는데 요구되는 시스템 및 프로세스의 서면기술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10) 고객 요구사항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고객에 의해 규정된 모든 요구사항(예를 들면 기술적,상업적,제품 및 제조 공정-관련 요구사항, 일반용어 및 조건,고객-지정 요구사항 등)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11) 고객 지정 요구사항(CSRs)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품질경영시스템 표준(ISO 9001:2015)의 특정 조항에 연계된 해석 또는 보충 요구사항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12) 조립성을 고려한 설계(DFA)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제품이 조립의 편의성을 고려하여 설계되는 프로세스(예를 들면 하나의 제품이 몇 개의 부품을 포함하는 경우 조립 시간을 줄임으로써, 조립 비용을 줄이게 될 것이다.)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13) 제조성을 고려한 설계(DFM)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쉽고 경제적으로 제조되는 제품을 설계하기 위해 제품 설계 및 공정 기획을 통합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14) 제조성 및 조립성을 고려한 설계(DFMA)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두가지 방법론의 결합: 제품을 보다 쉽게 생산하고, 보다 높은 처리량(생산량)과 개선된 품질을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갖는 최적화된 공정이 되도록 제조성을 고려한 설계(DFM); 그리고 실수의 리스크를 줄이고, 보다 저렴한 비용, 그리고 조립을 보다 쉽게 만들도록 설계의 최적화가 되는 조립성을 고려한 설계(DFA)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15) 6시그마를 고려한 설계(DFSS)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기대사항을 충족하고 식스 시그마 수준으로 생산될 수 있도록 제품 또는 공정의 강건한 설계를 목표로 하는 체계적인 방법론, 도구 및 기법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16) 설계-책임조직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새로운 제품 시방을 제정하거나, 기존 제품 시방을 변경할 수 있는 권한을 가진 조직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이 책임은 고객의 지정 적용 범위 내에서 설계 성능의 시험 및 검증을 포함한다.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51312" y="955097"/>
            <a:ext cx="6535238" cy="7164041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17) 실수방지(Error proofing)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부적합품의 제조를 예방하기 위한 제품 및 제조공정 설계 및 개발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18) 단계적 확대 프로세스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적절한 인원이 이러한 상황에 대해 대응할 수 있고 해결책을 모니터 할 수 있도록 조직 내 어떤 이슈를 강조하거나 표시를 하는데 사용하는 프로세스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19) 고장목 계통 분석(FTA)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원하지 않는 상태의 시스템이 분석됨에 있어서 연역적인 고장 분석 방법론; 고장목 계통 분석은 고장, 서브 시스템 및 전체 시스템의 논리도의 생성에 의한 중복되는 설계 요소 간의 관계를 도식화한 것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20) 시험실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화학적, 금속적(야금학상), 치수, 물리적, 전기적, 또는 신뢰성 시험에 국한하지 않지만 이들을 포함할 수 있는 검사,시험,또는 교정을 위한 시설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21) 시험실 범위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다음을 포함하는 관리문서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시험실이 수행되기 위해 자격 인정이 되는 특정 시험, 평가 및 교정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시험실이 상기 사항을 수행하는데 사용하는 장비의 목록, 그리고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시험실이 상기 사항을 수행하는 표준 및 방법의 목록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22) 제조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만들거나 조립하는 프로세스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-생산자재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-생산 부품 또는 서비스 부품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-조립, 또는 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-열처리, 용접, 도장, 도금 또는 기타 마무리 서비스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51312" y="955097"/>
            <a:ext cx="6535238" cy="792578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23) 제조 타당성 확인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그것이 고객 요구사항을 충족하는 제품을 기술적으로 제조하는데 타당한지를 결정하기 위해 제안된 프로젝트의 분석 및 평가.이것은 다음사항을 포함하지만 이것으로 제한되지는 않는다.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견적된 비용 내에서, 그리고 필요한 자원, 시설, 치공구, 생산능력, 소프트웨어 그리고 지원 기능을 포함한 스킬이 요구되는 인원이 이용 가능한 상태에 있거나 또는 이용 가능하도록 계획되고 있는지를 포함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24) 제조 서비스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구성품 및 조립품에 대해 시험,제조,배송 및 수리 서비스를 제공하는 회사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25) 전문분야-협력 접근법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조직으로부터의 인원을 포함하고 고객 및 공급자 대리인을 포함할 수 있는 인원들로 구성된 팀 에 의해 어떻게 프로세스가 운영되는지에 영향을 줄 수 있는 모든 이해관계자로부터의 입력을 캡쳐 하는 방법; 팀 멤버는 조직의 내부 또는 외부가 될 수 있다; 기존 팀 또는 특별 위원회 팀이 상황 보증 으로 사용될 수 있다; 팀에 대한 입력은 조직 입력사항 및 고객 입력사항 모두를 포함할 수 있다.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26) 원인불명고장(NTF)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"적합부품"의 모든 요구사항을 충족하는, 고객사 또는 부품 제조업체에 의해서 분석되는 경우, 서비스 이벤트 동안 교체되는 부품에 적용되는 명칭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(또한 "No Fault Found" 또는 "Trouble Not Found"로 언급된다)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27) 외주 처리된 프로세스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 조직에 의해 수행되는 조직의 기능(또는 프로세스)의 부분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28) 정기적 완전 분해점검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고장 또는 중단 이력을 근간으로 하여, 장비의 서브 시스템 또는 장비 하나가 사전 대비적으로 서비스(가동)를 벗어나 분해되고,수리되고,부품 교체되고,재조립되어,다시 가동으로 복귀시키는 경우의 예정되지 않은 중요한 고장을 예방하는 유지보수 방법론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29) 예측보전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언제 유지보수가 수행되어야 할 것인지를 예측하기 위하여,장비 조건의 주기적인 또는 지속적인 모니터링 수행을 통해 가동 중에 있는 장비의 조건을 평가하는 기법의 세트 및 접근법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51312" y="955097"/>
            <a:ext cx="6535238" cy="792578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 30) 추가 운임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계약된 납기에 추가적으로 발생하는 요금 또는 추가 비용 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비고-방법,양,예정되지 않은 납기지연 등에 의한 원인이 됨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31) 예방보전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제조공정설계의 출력으로써 장비고장과 생산에 예정되지 않은 중단의 원인을 제거하기 위해 정기적으로(시간기반,주기적인 검사 및 완전 분해점검) 계획된 활동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32) 제품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 실현 프로세스의 결과로 나타난 모든 의도된 출력에 적용된다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33) 제품 안전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고객에 대한 피해 또는 위험요소로 나타나지 않는 것을 보장하는 제품의 설계 및 제조와 관련 된 표준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34) 생산가동 중단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제조공정이 가동되지 않는 경우에 조건;기간은 몇 시간에서부터 몇 달이 될 수 있다</a:t>
            </a:r>
            <a:endParaRPr/>
          </a:p>
          <a:p>
            <a:pPr indent="0" lvl="2" marL="5387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35) 대응계획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비정상적이거나 부적합 이벤트가 검출되는 이벤트에서 관리계획서에 규정된 조치 또는 일련의 단계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36) 원격 장소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제조 현장을 지원하고 어떤 비 생산 프로세스가 발생하는 장소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37) 서비스 부품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 제조되는 부품들을 포함하는, 서비스 부품의 적용을 위하여 고객사에 의해 조달되거나 출력되는 고객사 시방서에 따라 제조되는 대체 부품(들)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38) 현장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가치가 부과되는 제조 프로세스가 일어나는 장소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1724025" y="122217"/>
            <a:ext cx="344804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제3장_용어와 정의 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(Terms and definitions)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151312" y="955097"/>
            <a:ext cx="6535238" cy="6115677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39) 특별 특성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제품의 안전 또는 규제사항 준수,장착,기능,성능,요구사항 또는 제품의 후속 공정에 영향을 미칠 수 있는 제품 특성 또는 제조 공정 변수의 분류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40) 특별상황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 이상의 고객 요구사항이 중요한 품질이나 품질 또는 인도 문제로 기인하여 만족되지 않는 경우 조직에게 부과되는 고객의-식별된 분류의 통지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41) 지원 기능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동일 조직의 하나(또는 그 이상의) 제조 현장을 지원하는 (현장 또는 원격 장소에서 수행되는) 비-생산 활동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42) 전사적 생산 보전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조직에 가치를 창출하는 기계,장비,공정 및 인원을 통해 생산 및 품질 시스템의 완전성을 유지하고 개선하는 시스템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43) 트레이드-오프 곡선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각기 다른 제품의 다양한 설계 특성의 관계를 이해하고 의사소통 하는 도구;하나의 특성에 대한 제품의 성능은 Y-축에 그려지고 다른 특성은 X-축에 그려져서 두 개의 특성에 상대되는 제품 성능을 설명하는 점들을 찍어 곡선으로 표시한다.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44) 트레이드-오프 프로세스</a:t>
            </a:r>
            <a:endParaRPr/>
          </a:p>
          <a:p>
            <a:pPr indent="0" lvl="1" marL="26938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설계 대안 간의 고객,기술적 및 경제적 관계를 구축하는 제품 및 제품의 성능 특성에 대한 트레이드- 오프 곡선을 만들어 사용하는 방법론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151312" y="955097"/>
            <a:ext cx="6535238" cy="446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4.1 조직 및 조직 상황의 이해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조직은, 조직의 목적 및 전략적 방향과 관련이 있는 외부와 내부 이슈를, 그리고 품질경영시스템의 의도된 결과를 달성하기 위한 조직의 능력에 영향을 주는 외부와 내부 이슈를 정하여야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조직은 이러한 외부와 내부 이슈에 대한 정보를 모니터링하고 검토하여야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1 이슈에는 긍정적, 부정적 요인 또는 고려해야 할 조건이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2 국제적, 국가적, 지역적 또는 지방적 이든 법적, 기술적, 경쟁적, 시장, 문화적, 사회적 및 경제적 환경에서 비롯된 이슈를 고려함으로써, 외부 상황에 대한 이해를 용이하게 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3 조직의 가치, 문화, 지식 및 성과와 관련되는 이슈를 고려함으로써, 내부 상황에 대한 이해를 용이하게 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4.2 이해 관계자의 요구 및 기대 이해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요구사항, 그리고 적용되는 법적 및 규제적 요구사항을 충족하는 제품 및 서비스를 일관성 있게 제공하기 위한 조직의 능력에 이해관계자가 영향 또는 잠재적 영향을 미치기 때문에, 조직은 다음 사항을 정하여야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품질경영시스템에 관련되는 이해관계자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품질경영시스템에 관련되는 이해관계자의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712686" y="112817"/>
            <a:ext cx="345439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제4장_조직 상황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151312" y="1013455"/>
            <a:ext cx="6535238" cy="423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&lt;표1. 이해관계자 목록 및 이해관계자의 요구사항&gt;</a:t>
            </a:r>
            <a:endParaRPr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1712686" y="112817"/>
            <a:ext cx="345439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제4장_조직 상황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22"/>
          <p:cNvGraphicFramePr/>
          <p:nvPr/>
        </p:nvGraphicFramePr>
        <p:xfrm>
          <a:off x="188641" y="1481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{A597D149-3413-4337-9828-306298F16C03}</a:tableStyleId>
              </a:tblPr>
              <a:tblGrid>
                <a:gridCol w="941100"/>
                <a:gridCol w="1150675"/>
                <a:gridCol w="3809925"/>
                <a:gridCol w="596200"/>
              </a:tblGrid>
              <a:tr h="3303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이해관계자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이해관계자의 요구사항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중요도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이사회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/주주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경영층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원가절감(인원축소 포함), 생산성 향상,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매출증대, 표준화, 빅데이터 활용</a:t>
                      </a:r>
                      <a:endParaRPr/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지역주민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/사회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지역주민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지역경제 발전(일자리 창출),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환경오염 억제(소음, 폐수 등), 사회공헌 사업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경쟁사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경쟁사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입찰 실패, 품질문제 다발, 기술&amp;정보 유출(벤치마킹 포함), 핵심인력 영입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법 집행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/규제기관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정부기관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국세청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각종 법규 준수 (환경규제, 노동법 등), 국가경제 발전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탈세 및 부패금지</a:t>
                      </a:r>
                      <a:endParaRPr/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국내/외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원가절감, 품질만족, 납기준수, 사업연속성 관리,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신속한 서비스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은행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/금융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주거래 은행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거래 유지, 고액 대출, 안정적 이자 상환,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외담대/펀드 등 상품 사용</a:t>
                      </a:r>
                      <a:endParaRPr/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종업원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임직원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노동조합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임금 인상, 고용 보장, 복지향상,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인원 충원, 안전/환경 조성</a:t>
                      </a:r>
                      <a:endParaRPr/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보험사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보험사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무사고(화재 예방관리 등)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공급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협력사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협력사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단가인상, 기술지원, 동반성장, 신규 아이템 수주,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고객요구사항 경감</a:t>
                      </a:r>
                      <a:endParaRPr/>
                    </a:p>
                  </a:txBody>
                  <a:tcPr marT="45725" marB="45725" marR="14400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6609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51312" y="955097"/>
            <a:ext cx="6535238" cy="463520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4.3 품질경영시스템의 범위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조직은 품질경영시스템의 적용범위를 설정하기 위하여 품질경영시스템의 경계 및 적용 가능성을 정하여야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적용범위를 정할 때, 조직은 다음 사항을 고려하여야 한다.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4.1에 언급된 외부와 내부 이슈 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4.2에 언급된 관련 이해관계자의 요구사항 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조직의 제품 및 서비스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조직의 품질경영시스템의 정해진 적용범위 내에서 이 표준의 요구사항이 적용 가능하다면, 조직은 이 표준의 모든 요구사항을 적용하여야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조직의 품질경영시스템의 적용범위는 문서화된 정보로 이용 가능하고 유지되어야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적용범위에는 포함되는 제품 및 서비스의 형태를 기술하여야 하고,조직이 그 조직의 품질경영시스템 적용범위에 포함되지 않는다고 정한 이 표준의 어떤 요구사항이 있는 경우, 그에 대한 정당성을 제시하여야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적용될 수 없다고 정한 요구사항이, 제품 및 서비스의 적합성 보장과 고객만족 증진을 보장하기 위한 조직의 능력 또는 책임에 영향을 미치지 않는 경우에만, 이 표준에 대한 적합성이 주장될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1712686" y="112817"/>
            <a:ext cx="345439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제4장_조직 상황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151312" y="955097"/>
            <a:ext cx="6813368" cy="580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4.4 품질경영시스템 및 품질경영시스템의 프로세스들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4.4.1 조직은 이 표준의 요구사항에 따라, 필요한 프로세스와 그 프로세스의 상호 작용을 포함하는 품질경영시스템을</a:t>
            </a:r>
            <a:b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      수립, 실행, 유지 및 지속적 개선을 하여야 한다. 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조직은 품질경영시스템에 필요한 프로세스와 조직 전반에 그 프로세스의 적용을 정해야 하며, 다음 사항을 실행하여야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 요구되는 입력과 프로세스로부터 기대되는 출력의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 프로세스의 순서와 상호 작용의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 프로세스의 효과적 운용과 관리를 보장하기 위하여 필요한 기준과 방법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(모니터링, 측정 및 관련 성과지표를 포함)의 결정과 적용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 프로세스에 필요한 자원의 결정과 자원의 가용성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 프로세스에 대한 책임과 권한의 부여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f) 6.1의 요구사항에 따라 결정된 리스크와 기회의 조치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g) 프로세스의 평가, 그리고 프로세스가 의도된 결과를 달성함을 보장하기 위하여 필요한 모든 변경 사항의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h) 프로세스와 품질경영시스템의 개선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4.4.1 조직은 필요한 정도까지 다음 사항을 실행하여야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프로세스의 운용을 지원하기 위하여 문서화된 정보의 유지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프로세스가 계획대로 수행되고 있다는 확신을 갖기 위하여 문서화된 정보의 보유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1712686" y="112817"/>
            <a:ext cx="345439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제4장_조직 상황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>
            <a:off x="151312" y="955097"/>
            <a:ext cx="6535238" cy="7147626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5.1 리더십 및 의지표명/실행의지(Commitment)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5.1.1일반사항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품질경영시스템에 대한 리더십과 의지표명/실행의지(commitment)을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다음 사항에 의하여 실증하여야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 품질경영시스템의 효과성에 대한 책무(accountability)를 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 품질방침과 품질목표가 품질경영시스템을 위하여 수립되고, 조직상황과 전략적 방향에 조화됨을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 품질경영시스템 요구사항이 조직의 비즈니스 프로세스와 통합됨을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 프로세스 접근법 및 리스크기반 사고의 활용 촉진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 품질경영시스템에 필요한 자원의 가용성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f) 효과적인 품질경영의 중요성, 그리고 품질경영시스템 요구사항과의 적합성에 대한 중요성을 의사 소통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g) 품질경영시스템이 의도한 결과를 달성함을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h) 품질경영시스템의 효과성에 기여하기 위한 인원을 적극 참여시키고, 지휘하고 지원함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i) 개선을 촉진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j) 기타 관련 경영자/관리자의 책임분야에 리더십이 적용될 때, 그들의 리더십을 실증하도록 그 경영자 역할에 대한 지원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이 표준에서 “비즈니스”에 대한 언급은 조직이 공적, 사적, 영리 또는 비영리의 여부에 관계없이, 조직의 존재 목적에 핵심이 되는 활동을 의미하는 것으로 광범위하게 해석될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5.1.2 고객중시</a:t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다음사항을 보장함으로써 고객중시에 대한 리더십과 의지표명을 실증한다.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고객 요구사항과 적용되는 법적 및 규제적 요구사항이 결정되고, 이해되며 일관되게 충족됨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제품 및 서비스의 적합성에, 그리고 고객 만족을 증진시키는 능력에 영향을 미칠 수 있는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리스크와 기회가 결정되고 처리됨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고객만족 증진의 중시가 유지됨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제5장_리더십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>
            <a:off x="151312" y="955097"/>
            <a:ext cx="6535238" cy="638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5.2 방침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5.2.1 품질방침 수립</a:t>
            </a:r>
            <a:endParaRPr b="1"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다음과 같은 품질방침을 수립, 실행 및 유지 한다. 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조직의 목적과 상황에 적절하고 조직의 전략적 방향을 지원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품질목표 설정을 위한 틀을 제공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적용되는 요구사항의 충족에 대한 의지표명을 포함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품질경영시스템의 지속적 개선에 대한 의지표명을 포함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5.2.2 품질방침의 의사소통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문서화된 정보로 이용 가능하고 유지됨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조직 내에서 의사소통 되고 이해되며 적용됨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해당되는 경우, 관련 이해관계자에게 이용 가능함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5.3 조직 역할,책임 및 권한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관련된 역할에 대한 책임과 권한이 조직 내에서 부여되고, 의사 소통되며, 이해됨을 보장 한다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다음 사항에 대하여 책임과 권한을 부여한다.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품질경영시스템이 이 표준의 요구사항에 적합함을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프로세스가 의도된 출력을 도출하고 있음을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품질경영시스템의 성과와 개선 기회를, 특히 최고경영자에게 보고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조직 전체에서 고객중시에 대한 촉진을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품질경영시스템의 변경이 계획되고 실행되는 경우, 품질경영시스템의 온전성(Integrity)이 유지됨을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제5장_리더십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151312" y="955097"/>
            <a:ext cx="6535238" cy="515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5.3.1 조직 역할,책임 및 권한-보충사항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고객 요구사항을 충족하는 것을 보장하기 위해 책임 및 권한을 갖는 인원을 할당하고,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문서화 한다. 이것은 최소한 다음사항을 포함하도록 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특별 특성의 선정, 품질 목표 및 관련 교육훈련 설정, 시정조치 및 예방조치, 제품 설계 및 개발, 생산능력 분석,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물류정보, 고객 점수카드, 그리고 고객 포탈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5.3.2 제품 요구사항과 시정조치에 대한 책임 및 권한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최고경영자/최고경영진은 다음을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제품 요구사항에 대한 적합성에 책임 있는 인원은 선적을 중단시키고 품질문제를 시정하기 위해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생산을 중단시키는 권한을 갖는다.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일부 산업에서 공정 설계 때문에, 즉각적으로 생산을 중단시키는 것은 항상 가능한 일이 아닐지도 모른다.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이러한 경우에, 영향 받는 배치는 반드시 봉쇄되어야 하고 고객에게 선적은 방지한다.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시정조치에 권한과 책임을 갖는 인원은 부적합 제품이 고객에게 선적되지 않고 모든 잠재적 부적합 제품이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파악되고 봉쇄되는 것을 보장하는 요구사항에 적합하지 않은 제품 또는 프로세스에 대하여 신속하게 정보를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통지한다.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모든 교대조에 걸친 생산 운영은 제품 요구사항에 대한 적합성 보장을 책임지는 또는 책임을 위임 받은 인원과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함께 배치된다.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제5장_리더십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(Context of the organization)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151312" y="955097"/>
            <a:ext cx="6535238" cy="666287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6.1 리스크 및 기회를 다루기 위한 조치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6.1.1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품질경영시스템을 기획할 때, 당사는 4.1의 이슈와 4.2의 요구사항을 고려하여, 다음 사항을 위하여 다루어야 할 필요성이 있는 리스크와 기회를 정한다.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품질경영시스템이 의도된 결과를 달성할 수 있음을 보증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바람직한 영향의 증진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바람직하지 않은 영향의 예방 또는 감소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개선의 성취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6.1.2</a:t>
            </a:r>
            <a:r>
              <a:rPr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당사는 다음 사항을 기획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ⓐ 리스크와 기회를 다루기 위한 조치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ⓑ 다음 사항에 대한 방법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1)조치를 품질경영시스템의 프로세스에 통합하고 실행(4.4 참조)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2)이러한 조치의 효과성 평가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리스크와 기회를 다루기 위하여 취해진 조치는, 제품 및 서비스의 적합성에 미치는 잠재적 영향에 상응하도록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1)  리스크를 다루기 위한 선택사항에는 리스크 회피, 기회를 잡기 위한 리스크 감수, 리스크 요인 제거, 발생 가능성 또는 결과의 변경, 리스크 공유 또는 정보에 근거한 의사결정에 의한 리스크 유지가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2)  기회는 새로운 실행방안의 채택, 신제품 출시, 새로운 시장 개척, 신규 고객 창출 파트너십 구축, 신기술 활용, 그리고 조직 또는 고객의 니즈를 다루기 위한 그 밖의 바람직하고 실행 가능한 방안으로 이어질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제6장_기획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(Planning)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>
            <a:off x="151312" y="955097"/>
            <a:ext cx="6535238" cy="6155047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6.2 품질 목표 및 품질 목표를 달성하기 위한 기획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6.2.1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당사는 품질경영시스템에 필요한 관련 기능, 계층 및 프로세스에서 품질목표를 수립한다.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품질목표는 다음과 같아야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품질방침과 일관성이 있어야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측정 가능해야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적용되는 요구사항이 고려되어야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제품 및 서비스의 적합성과 고객만족의 증진과 관련되어야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모니터링 되어야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의사소통 되어야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ⓖ 필요에 따라 갱신되어야 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품질목표에 관하여 문서화된 정보(“경영검토 절차서(MD-0901)”)를 유지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6.2.2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품질목표를 달성하는 방법을 기획할 때, 당사는 다음 사항을 정한다.</a:t>
            </a:r>
            <a:endParaRPr sz="11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달성 대상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필요 자원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책임자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완료 시기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결과 평가 방법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제6장_기획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(Planning)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151312" y="955097"/>
            <a:ext cx="6535238" cy="2408893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6.3 변경의 기획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당사가 품질경영시스템의 변경이 필요하다고 정한 경우, 변경은 계획적인 방식으로 수행 한다.(4.4 참조)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고려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변경의 목적과 잠재적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품질경영시스템의 온전성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자원의 가용성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책임과 권한의 부여 또는 재부여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1706880" y="112817"/>
            <a:ext cx="3459480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제6장_기획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(Planning)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151312" y="955097"/>
            <a:ext cx="6535238" cy="9294368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 자원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7.1.1 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품질경영시스템의 수립, 실행, 유지 및 지속적 개선에 필요한 자원을 정하고 제공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고려한다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기존 내부자원의 능력과 제약사항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외부공급자로부터 획득할 필요가 있는 것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7.1.2 인원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품질경영시스템의 효과적인 실행, 그리고 프로세스의 운용과 관리에 필요한 인원을 정하고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제공 한다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7.1.3 기반구조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프로세스의 운용에 필요한, 그리고 제품 및 서비스의 적합성 달성에 필요한 기반구조를 결정,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제공 및 유지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기반구조에는 다음이 포함될 수 있다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건물 및 연관된 유틸리티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장비(하드웨어, 소프트웨어 포함)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운송자원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정보통신 기술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7.1.4 프로세스 운용 환경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프로세스 운용에 필요한, 그리고 제품 및 서비스의 적합성 달성에 필요한 환경을 결정, 제공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및 유지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적절한 환경은, 다음과 같이 인적 요인과 물리적 요인의 조합이 될 수 있다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사회적 (예-비차별, 평온, 비대립)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심리적 (예-스트레스 완화, 극심한 피로예방, 정서적 보호)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물리적 (예-온도, 열, 습도, 밝기, 공기흐름, 위생, 소음)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이러한 요인은 제공되는 제품 및 서비스에 따라 상당히 달라질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1698171" y="112817"/>
            <a:ext cx="348342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제7장_지원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(Support)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151312" y="955097"/>
            <a:ext cx="6535238" cy="854903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7.1.5 모니터링 자원 및 측정 자원</a:t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7.1.5.1 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제품 및 서비스가 요구사항에 대하여 적합한지를 검증하기 위하여 모니터링 또는 측정이 활용되는 경우, 당사는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유효하고 신뢰할 수 있는 결과를 보장하기 위하여 필요한 자원을 정하고 제공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당사는 제공되는 자원이 다음과 같음을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수행되는 특정 유형의 모니터링과 측정 활동에 적절함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자원의 목적에 지속적으로 적합함(Fitness)을 보장하도록 유지됨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당사는 모니터링 자원과 측정 자원의 목적에 적합하다는 증거로, 적절한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7.1.5.1.1 측정시스템 분석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통계적 조사는 관리계획서에서 파악된 각 형태의 검사, 측정 및 시험장비 시스템의 결과로 나타난 변동을 분석하기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위하여 수행한다. 사용된 분석방법과 합격 판정기준은 측정 시스템 분석에 관한 참고매뉴얼 (CoreTool-MSA편)에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있는 사항들을 반영한다.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고객에 의해 승인되는 경우, 다른 분석방법 및 합격 판정기준이 사용된다.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대체 방법의 고객 수용 기록은 대체 측정시스템 분석으로부터의 결과와 함께 유지되어야 한다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(9.1.1.1 참조)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MSA 조사의 우선 순위화는 중대 또는 특별 제품 또는 공정 특성에 초점을 맞추어야 할 것이다.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7.1.5.2 측정 소급성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측정 소급성이 요구사항이거나, 조직이 측정결과의 유효성에 대한 신뢰제공을 필수적인 부분으로 고려하고 있는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경우, 측정장비는 다음 사항을 충족한다.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ⓐ 규정된 주기 또는 사용 전에, 국제 또는 국가 측정표준에 소급 가능한 측정표준에 대하여 교정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또는 검증 혹은 두 가지 모두 시행될 것. 그러한 표준이 없는 경우, 교정 또는 검증에 사용된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근거는 문서화된 정보로 보유될 것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ⓑ 측정장비의 교정 상태를 알 수 있도록 식별될 것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ⓒ 교정상태 및 후속되는 측정 결과를 무효화할 수 있는 조정, 손상 또는 열화로부터 보호 될 것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1698171" y="112817"/>
            <a:ext cx="348342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제7장_지원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(Support)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/>
          <p:nvPr/>
        </p:nvSpPr>
        <p:spPr>
          <a:xfrm>
            <a:off x="151312" y="955097"/>
            <a:ext cx="6535238" cy="855570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7.1.6 조직의 지식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프로세스 운용에 필요한, 그리고 제품 및 서비스의 적합성 달성에 필요한 지식을 정한다.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이 지식은 유지되고, 필요한 정도까지 이용 가능하도록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변화하는 니즈와 경향(Trend)을 다룰 경우, 현재의 지식을 고려하고, 추가로 필요한 모든 지식 및 요구되는 최신 정보의 입수 또는 접근 방법을 정한다.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1)  조직의 지식은 조직에게 특정한 지식으로, 일반적으로 경험에 의해 얻어진다. 이는 조직의 목표를 달성하기 위하여 활용되고 공유되는 정보이다.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 2)  조직의 지식은 다음을 기반으로 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내부 출처 (예:지적 재산, 경험에서 얻은 지식, 실패 및 성공한 프로젝트로부터 얻은 교훈, 문서화되지 않은 지식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및 경험의 포착과 공유, 프로세스, 제품 및 서비스에서 개선된 결과)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7.2 역량/적격성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실행한다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품질경영시스템의 성과 및 효과성에 영향을 미치는 업무를 조직의 관리하에 수행하는 인원에 필요한 역량을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이들 인원이 적절한 학력, 교육훈련 또는 경험에 근거하여 역량이 있음을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적용 가능한 경우, 필요한 역량을 얻기 위한 조치를 취하고, 취해진 조치의 효과성을 평가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역량의 증거로 적절한 문서화된 정보를 보유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적용할 수 있는 조치에는, 예를 들어 현재 고용된 인원에 대한 교육훈련 제공, 멘토링이나 재배치 실시, 또는 역량이 있는 인원의 고용이나 그러한 인원과의 계약 체결을 포함할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7.3 인식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당사는, 조직의 관리하에 업무를 수행하는 인원이 다음 사항을 인식하도록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품질방침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관련된 품질목표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개선된 성과의 이점을 포함하여, 품질경영시스템의 효과성에 대한 자신의 기여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품질경영시스템의 요구사항에 부적합한 경우의 영향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1698171" y="112817"/>
            <a:ext cx="348342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제7장_지원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(Support)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151312" y="955097"/>
            <a:ext cx="6535238" cy="7909373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7.4 의사소통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포함하여 품질경영시스템에 관련되는 내부 및 외부 의사소통을 결정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의사소통 내용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의사소통 시기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의사소통 대상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의사소통 방법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의사소통 담당자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 문서화된 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7.5.1 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당사의 품질경영시스템에는 다음 사항을 포함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ⓐISO 9001:2015에서 요구하는 문서화 된 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ⓑ품질경영시스템의 효과성을 위하여 필요한 것으로, 당사가 결정한 문서화된 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품질경영시스템을 위한 문서화된 정보의 정도는, 다음과 같은 이유로 조직에 따라 다를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-조직의 규모, 그리고 활동, 프로세스, 제품 및 서비스의 유형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-프로세스 복잡성과 프로세스 상호 작용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-인원의 역량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7.5.2 작성(Creating) 및 갱신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문서화된 정보를 작성하거나 갱신할 경우, 조직은 다음 사항의 적절함을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식별 및 내용(Description)(예:제목,날짜,작성자 또는 문서번호)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형식(예:언어,소프트웨어 버전, 그래픽) 및 매체(예:종이, 전자매체)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적절성 및 충족성에 대한 검토 및 승인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7.5.3 문서화된 정보의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7.5.3.1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품질경영시스템 및 이 표준에서 요구되는 문서화된 정보는, 다음 사항을 보장하기 위하여 관리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ⓐ필요한 장소 및 필요한 시기에 사용 가능하고 사용하기에 적절함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ⓑ충분하게 보호됨(예:기밀유지 실패, 부적절한 사용 또는 완전성 훼손으로 부터)</a:t>
            </a:r>
            <a:endParaRPr/>
          </a:p>
        </p:txBody>
      </p:sp>
      <p:sp>
        <p:nvSpPr>
          <p:cNvPr id="238" name="Google Shape;238;p34"/>
          <p:cNvSpPr txBox="1"/>
          <p:nvPr/>
        </p:nvSpPr>
        <p:spPr>
          <a:xfrm>
            <a:off x="1698171" y="112817"/>
            <a:ext cx="348342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제7장_지원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(Support)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/>
          <p:nvPr/>
        </p:nvSpPr>
        <p:spPr>
          <a:xfrm>
            <a:off x="151312" y="955097"/>
            <a:ext cx="6535238" cy="4081210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ko-KR" sz="10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7.5.3.2</a:t>
            </a: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문서화된 정보의 관리를 위하여, 다음 활동 중 적용되는 사항을 다룬다.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ⓐ 배포, 접근, 검색 및 사용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ⓑ 가독성 보존을 포함하는 보관 및 보존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ⓒ 변경 관리(예:버전관리)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ⓓ 보유 및 폐기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품질경영시스템의 기획과 운용을 위하여 필요하다고, 당사가 정한 외부 출처의 문서화된 정보는 적절하게 식별하고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관리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적합성의 증거로 보유 중인 문서화된 정보는, 의도하지 않은 수정으로부터 보호 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접근(Access)이란 문서화된 정보를 보는 것만 허락하거나, 문서화된 정보를 보고 변경하는 허락 및 권한에 관한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결정을 의미할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1698171" y="112817"/>
            <a:ext cx="3483429" cy="54684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제7장_지원</a:t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(Support)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>
            <a:off x="151312" y="955097"/>
            <a:ext cx="6535238" cy="7401542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8.1 운용 기획 및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통하여, 제품 및 서비스의 제공을 위한 요구사항을 충족하기 위해 필요한, 그리고 “6. 기획”에서 정한 조치를 실행하기 위해 필요한 프로세스(4.4 참조)를 계획, 실행 및 관리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제품 및 서비스에 대한 요구사항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다음에 대한 기준 수립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1)프로세스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2)제품 및 서비스의 합격 판정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제품 및 서비스 요구사항에 대한 적합성을 달성하기 위해 필요한 자원의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기준에 따라 프로세스 관리의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다음을 위해 필요한 정도로 문서화된 정보의 결정, 유지 및 보유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1)프로세스가 계획된 대로 수행되었음에 대한 신뢰 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2)제품과 서비스가 요구사항에 적합함을 실증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기획의 출력은 조직의 운용에 적절하도록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외주처리 프로세스가 관리됨을 보장 한다. (8.4 참조)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8.2 제품 및 서비스 요구사항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8.2.1 고객과의 의사소통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고객과의 의사소통에는 다음 사항을 포함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제품 및 서비스 관련 정보 제공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변경을 포함하여 문의, 계약 또는 주문의 취급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고객 불평을 포함하여 제품 및 서비스에 관련된 고객 피드백 입수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고객 재산의 취급 및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관련될 경우, 비상조치를 위한 특정 요구사항 수립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/>
          <p:nvPr/>
        </p:nvSpPr>
        <p:spPr>
          <a:xfrm>
            <a:off x="151312" y="955097"/>
            <a:ext cx="6535238" cy="9178951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8.2.2 제품 및 서비스에 대한 요구사항의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고객에게 제공될 제품 및 서비스에 대한 요구사항을 결정할 경우, 조직은 다음 사항을 보장한다.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제품 및 서비스 요구사항은 다음을 포함하여 규정됨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1)적용되는 모든 법적 및 규제적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2)조직에 의해 필요하다고 고려된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조직은 제공하는 제품 및 서비스에 대한 요구(Claim)을 충족시킬 수 있음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8.2.3 제품 및 서비스에 대한 요구사항의 검토</a:t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8.2.3.1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당사는 고객에게 제공될 제품 및 서비스에 대한 요구사항을 충족시키는 능력이 있음을 보장한다.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또한 조직은 고객에게 제품 및 서비스의 공급을 결정하기 전에, 다음사항을 포함하여 검토를 실시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ⓐ 인도 및 인도 이후 활동에 대한 요구사항을 포함하여, 고객이 규정한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ⓑ 고객이 명시하지 않았으나 알려진 경우, 규정되거나 의도된 사용에 필요한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ⓒ 당사에 의해 규정된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ⓓ 제품이나 서비스에 적용되는 법적 및 규제적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ⓔ 이전에 표현된 것과 상이한 계약 또는 주문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당사는 이전에 규정한 요구사항과 상이한 계약 또는 주문 요구사항이 해결되었음을 보장한다.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고객이 요구사항을 문서화된 상태로 제시하지 않은 경우, 고객 요구사항은 수락 전에 조직에 의해 확인한다.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인터넷 판매 등과 같은 상황에서는, 각각의 주문에 대한 공식적인 검토가 비현실적이다.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이러한 경우, 카달로그와 같은 관련 제품정보를 검토하는 것으로 대신할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8.2.3.2 조직은 적용될 경우, 다음 사항에 대한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ⓐ검토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ⓑ제품 및 서비스에 대한 모든 새로운 요구사항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8.2.4 제품 및 서비스에 대한 요구사항의 변경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 및 서비스에 대한 요구사항이 변경된 경우, 당사는 관련 문서화된 정보가 수정됨을, 그리고 관련 인원이 변경된 요구사항을 인식하고 있음을 보장한다.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/>
          <p:nvPr/>
        </p:nvSpPr>
        <p:spPr>
          <a:xfrm>
            <a:off x="151312" y="955097"/>
            <a:ext cx="6535238" cy="7841983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 제품 및 서비스의 설계와 개발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8.3.1 일반사항</a:t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서비스의 설계와 개발 이후의 공급을 보장하기에 적절한 설계와 개발 프로세스를 수립, 실행 및 유지 한다.</a:t>
            </a:r>
            <a:endParaRPr/>
          </a:p>
          <a:p>
            <a:pPr indent="0" lvl="0" marL="28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8.3.2 설계와 개발 기획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설계와 개발에 대한 단계 및 관리를 결정할 때, 조직은 다음 사항을 고려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설계와 개발활동의 성질, 기간 및 복잡성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적용되는 설계와 개발 검토를 포함하여, 요구되는 프로세스 단계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요구되는 설계와 개발 검증 및 실현성 확인/타당성 확인(Validation) 활동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설계와 개발 프로세스에 수반되는 책임 및 권한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제품 및 서비스의 설계와 개발에 대한 내부 및 외부 자원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설계와 개발 프로세스에 관여하는 인원 간 인터페이스의 관리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ⓖ 설계와 개발 프로세스에 고객 및 사용자의 관여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ⓗ  제품 및 서비스의 설계와 개발 이후의 공급을 위한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ⓘ 설계와 개발 프로세스에 대해 고객 및 기타 관련 이해관계자가 기대하는 관리의 수준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ⓙ 설계와 개발 요구사항이 충족되었음을 실증하는데 필요한 문서화된 정보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8.3.3 설계와 개발 입력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설계와 개발이 될 특정 형태의 제품 및 서비스에 필수적인 요구사항을 정한다. 조직은 다음사항을 고려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기능 및 성능/성과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이전의 유사한 설계와 개발 활동으로부터 도출된 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법적 및 규제적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조직이 실행을 약속한 표준 또는 실행지침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제품 및 서비스의 성질에 기인하는 실패의 잠재적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입력은 설계와 개발 목적에 충분하며, 완전하고 모호하지 않아야 한다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상충되는 설계와 개발 입력은 해결 한다. 당사는 설계와 개발 입력에 대한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/>
          <p:nvPr/>
        </p:nvSpPr>
        <p:spPr>
          <a:xfrm>
            <a:off x="151312" y="955097"/>
            <a:ext cx="6535238" cy="814020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8.3.4 설계와 개발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당사는, 설계와 개발 프로세스에 다음 사항을 보장하기 위하여 관리/통제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달성된 결과의 규정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설계와 개발 결과가 요구사항을 충족하는지의 능력을 평가하기 위한 검토 시행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설계와 개발의 출력이 입력 요구사항에 충족함을 보장하기 위한 검증활동 시행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결과로 나타난 제품 및 서비스가 규정된 적용에 대한, 또는 사용 의도에 의한 요구사항을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충족시킴을 보장하기 위한 실현성 확인 활동의 시행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검토 또는 검증 및 실현성 확인 활동 중 식별된 문제점에 대해 필요한 모든 조치의 시행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이들 활동에 대한 문서화된 정보의 공유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설계와 개발 검토, 검증 및 실현성 확인에는 별개의 다른 목적이 있다. 설계와 개발 검토, 검증 및 실현성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확인은 조직의 제품 및 서비스에 적절하도록 별도로 또는 조합하여 시행 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8.3.5 설계와 개발 출력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설계와 개발 출력이 다음과 같음을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입력 요구사항 충족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제품 및 서비스 제공을 위한 후속 프로세스에 대해 충분함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해당되는 경우, 모니터링과 측정 요구사항의 포함 또는 인용, 그리고 합격 판정기준의 포함 또는 인용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의도한 목적에, 그리고 안전하고 올바른 공급에 필수적인 제품 및 서비스의 특성 규정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설계와 개발 출력에 대한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8.3.6 설계와 개발 변경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서비스의 설계와 개발 과정, 또는 이후에 발생된 변경사항을 요구사항의 적합성에 부정적 영향이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없음을 보장하는데 필요한 정도까지 식별, 검토 및 관리한다.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사항에 대해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설계와 개발 변경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검토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변경의 승인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부정적 영향을 예방하기 위해 취한 조치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/>
          <p:nvPr/>
        </p:nvSpPr>
        <p:spPr>
          <a:xfrm>
            <a:off x="151312" y="955097"/>
            <a:ext cx="6535238" cy="7678541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8.4 외부에서 제공된 프로세스, 제품 및 서비스의 관리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8.4.1일반사항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외부에서 제공되는 프로세스, 제품 및 서비스가 요구사항에 적합함을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다음의 경우, 외부에서 제공되는 프로세스, 제품 및 서비스에 적용할 관리방법을 결정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외부공급자의 제품 및 서비스가 조직 자체의 제품 및 서비스에 포함되도록 의도한 경우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제품 및 서비스가 조직을 대신한 외부공급자에 의해 고객에게 직접 제공되는 경우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프로세스 또는 프로세스의 일부가 조직에 의한 결정의 결과로, 외부공급자에 의해 제공된 경우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요구사항에 따라 프로세스 또는 제품 및 서비스를 공급할 수 있는 능력을 근거로, 외부 공급자의 평가, 선정, 성과 모니터링 및 재평가에 대한 기준을 결정하고 적용한다. 또한 조직은 이들   활동에 대한, 그리고 평가를 통해 발생한 모든 필요한 조치에 대한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8.4.2 관리의 유형과 정도(Extent)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외부에서 제공되는 프로세스, 제품 및 서비스가, 적합한 제품 및 서비스를 고객에게 일관되게 인도하는 조직의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능력에 부정적인 영향을 미치지 않음을 보장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조직은 다음 사항을 수행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외부에서 제공되는 프로세스가 조직의 품질경영시스템 관리 내에서 유지됨을 보장.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외부공급자에게 적용하기로 한 관리와, 결과로 나타나는 출력에 적용하기로 한 관리 모두를 규정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다음에 대한 고려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1) 고객 요구사항과 법적 및 규제적 요구사항을 일관되게 충족시켜야 하는 조직의 능력에 미치는 외부에서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제공되는 프로세스, 제품 및 서비스의 잠재적 영향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2) 외부공급자에 의해 적용되는 관리의 효과성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외부에서 제공되는 프로세스, 제품 및 서비스가 요구사항을 충족시킴을 보장하기 위하여 필요한 검증 또는 기타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활동의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0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/>
          <p:nvPr/>
        </p:nvSpPr>
        <p:spPr>
          <a:xfrm>
            <a:off x="151312" y="955097"/>
            <a:ext cx="6535238" cy="742462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8.4.3 외부 공급자를 위한 정보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외부공급자와 의사소통하기 이전에 요구사항이 타당함/충분함(adequacy)을 보장한다.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사항에 대한 당사의 요구사항을 외부공급자에게 전달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(외부공급자가) 제공하는 프로세스, 제품 및 서비스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다음에 대한 승인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1)제품 및 서비스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2)방법, 프로세스 및 장비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3)제품 및 서비스의 불출(release)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요구되는 모든 인원의 자격을 포함한 역량/적격성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당사와 외부공급자의 상호 작용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외부공급자의 성과에 대하여 조직이 적용하는 관리 및 모니터링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당사 또는 당사의 고객이 외부공급자의 현장에서 수행하고자 하는 검증 또는 실현성 확인 활동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 생산 및 서비스 제공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8.5.1 생산 및 서비스 제공의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 제공을 관리되는 조건하에서 실행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관리되는 조건에는 해당되는 경우, 다음 사항이 포함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다음을 규정하는 문서화된 정보의 가용성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1) 생산되어야 하는 제품의, 제공되어야 하는 서비스의, 또는 수행되어야 하는 활동의 특성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2) 달성되어야 하는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적절한 모니터링 자원 및 측정 자원의 가용성 및 활용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프로세스 또는 출력의 관리에 대한 기준, 그리고 제품 및 서비스에 대한 합격 판정기준이 충족되었음을 검증하기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위하여, 적절한 단계에서 모니터링 및 측정 활동의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프로세스 운용을 위한 적절한 기반구조 및 환경의 활용</a:t>
            </a:r>
            <a:endParaRPr/>
          </a:p>
        </p:txBody>
      </p:sp>
      <p:sp>
        <p:nvSpPr>
          <p:cNvPr id="280" name="Google Shape;280;p41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/>
          <p:nvPr/>
        </p:nvSpPr>
        <p:spPr>
          <a:xfrm>
            <a:off x="151312" y="955097"/>
            <a:ext cx="6535238" cy="8163289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요구되는 모든 자격을 포함하여, 역량이 있는 인원의 선정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결과로 나타난 출력이, 후속되는 모니터링 또는 측정에 의해 검증될 수 없는 경우, 생산 및 서비스 제공을 위한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프로세스의 계획된 결과를 달성하기 위한 능력의 실현성 확인 및 주기적 실현성 재확인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ⓖ 인적 오류를 예방하기 위한 조치의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ⓗ 불출, 인도 및 인도 후 활동의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적합한 기반구조는 제품 적합성을 보장하기 위해 요구되는 적절한 제조장비를 포함한다.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모니터링 및 측정 자원은 제조공정의 효과적인 관리를 보장하기 위해 요구되는 적절한 모니터링 및 측정장비를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포함한다.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8.5.2 식별 및 추적성</a:t>
            </a:r>
            <a:endParaRPr b="1" sz="12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서비스의 적합성을 보장하기 위하여 필요한 경우, 출력을 식별하기 위하여 적절한 수단을 활용한다.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생산 및 서비스 제공 전체에 걸쳐 모니터링 및 측정 요구사항에 관한 출력의 상태를 식별한다.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추적성이 요구사항인 경우, 조직은 출력의 고유한 식별을 관리 하며, 추적이 가능하기 위하여 필요한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검사 및 시험 상태는 자동화된 생산 이송 공정 내에 있는 자재와 같이, 본질적으로 명백하지 않는 한 생산흐름 내에 있는 제품의 위치에 의해 나타내지 못한다. 만약 그 상태가 명료하게 식별 되고, 문서화되고, 지정된 목적을 달성한다면 대체방법은 허용된다.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8.5.3 고객 또는 외부 공급자에 속한 자산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당사는 당사의 관리하에 있거나, 당사가 사용 중에 있는 고객 또는 외부공급자의 재산에 대하여 주의를 기울여야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한다. 당사는 제품 및 서비스에 사용되거나 포함되도록 제공된 고객 또는 외부 공급자의 재산을 식별, 검증, 보호 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안전하게 유지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고객 또는 외부공급자의 재산이 분실, 손상 또는 사용하기에 부적절한 것으로 판명된 경우, 조직은 고객 또는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외부공급자에게 이를 통보 하며, 발생한 사항에 대해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비고)  고객 또는 외부공급자의 재산에는 자재, 부품, 공구 및 장비, 고객 부동산, 지적 소유권 및 개인정보가 포함될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수 있다.</a:t>
            </a:r>
            <a:endParaRPr/>
          </a:p>
        </p:txBody>
      </p:sp>
      <p:sp>
        <p:nvSpPr>
          <p:cNvPr id="286" name="Google Shape;286;p42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/>
          <p:nvPr/>
        </p:nvSpPr>
        <p:spPr>
          <a:xfrm>
            <a:off x="151312" y="955097"/>
            <a:ext cx="6535238" cy="920203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8.5.4 보존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요구사항에 적합함을 보장하기 위해 필요한 정도까지, 생산 및 서비스를 제공하는 동안 출력을 보존한다.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보존에는 식별, 취급, 오염관리, 포장, 보관, 전달 또는 수송 및 보호가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8.5.5 인도 후 활동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서비스에 연관된 인도 후 활동에 대한 요구사항을 충족 시킨다.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요구되는 인도 후 활동에 관한 정도를 결정할 때, 다음 사항을 고려한다.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법적 및 규제적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제품 및 서비스와 관련한 잠재적으로 원하지 않은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제품 및 서비스의 성질, 용도 및 계획수명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고객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ⓔ 고객 피드백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인도 후 활동에는 보증규정에 따른 조치, 정비 서비스와 같은 계약상 의무사항, 그리고 재활용이나 최종 폐기와 같은 보충적인 서비스가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8.5.6 변경관리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생산 또는 서비스 제공에 대한 변경을, 요구사항과의 지속적인 적합성을 보장하기 위하여 필요한 정도까지 검토하고 관리한다.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변경에 대한 검토의 결과, 변경 승인자 및 검토 결과 도출된 필요한 모든 조치사항을 기술 한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3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/>
          <p:nvPr/>
        </p:nvSpPr>
        <p:spPr>
          <a:xfrm>
            <a:off x="151312" y="955097"/>
            <a:ext cx="6535238" cy="8994285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8.6 제품 및 서비스의 불출/출시(Release)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 요구사항이 충족되었는지 검증하기 위하여, 적절한 단계에서 계획된 결정사항을 실행한다.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계획된 결정사항이 만족스럽게 완료될 때까지, 제품 및 서비스는 고객에게 불출 하지 않는다. 다만, 관련 권한을 가진 자가 승인하고, 고객이 승인한 때(해당되는 경우)에는 불출한다.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제품 및 서비스의 불출에 관련된 문서화된 정보를 보유 한다. 문서화된 정보에는 다음 사항이 포함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ⓐ합격 판정기준에 적합하다는 증거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ⓑ불출을 승인한 인원에 대한 추적성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8.7 부적합 출력/산출물의 관리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8.7.1  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의도하지 않은 사용 또는 인도를 방지하기 위하여, 제품 요구사항에 적합하지 않은 출력이 식별되고 관리됨을 보장한다.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부적합 성질(nature)에, 그리고 제품 및 서비스의 적합성에 대하여 부적합이 미치는 영향에 따라 적절한 조치를 취한다.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이것은 제품의 인도 후, 그리고 서비스의 제공 중 또는 제공 후에 발견된 제품 및 서비스의 부적합에도 적용된다.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부적합 출력을 다음의 하나 또는 그 이상의 방법으로 처리한다.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시정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제품 및 서비스 제공의 격리, 봉쇄/억제, 반품 또는 정지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고객에게 통지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특채에 의해 인수를 위한 승인의 획득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부적합 출력이 조치되는 경우, 요구사항에 대한 적합성을 검증한다.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8.7.2 당사는 다음의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부적합에 대한 기술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취해진 조치에 대한 기술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승인된 특채에 대한 기술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부적합에 관한 활동을 결정하는 책임의 식별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1704975" y="117492"/>
            <a:ext cx="3467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제8장_운용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(Operation)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/>
          <p:nvPr/>
        </p:nvSpPr>
        <p:spPr>
          <a:xfrm>
            <a:off x="151312" y="955097"/>
            <a:ext cx="6535238" cy="9479033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9.1 모니터링, 측정, 분석 및 평가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9.1.1일반사항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다음 사항을 결정한다.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모니터링 및 측정의 대상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유효한 결과를 보장하기 위하여, 필요한 모니터링, 측정, 분석 및 평가에 대한 방법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모니터링 및 측정 수행 시기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모니터링 및 측정의 결과에 대한 분석 및 평가 시기 조직은 품질경영시스템의 성과 및 효과성을 평가한다.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결과의 증거로, 적절한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9.1.2 고객 만족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고객의 니즈 및 기대가 어느 정도 충족되었는지에 대한 고객의 인식을 모니터링한다.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이 정보를 수집, 모니터링 및 검토하기 위한 방법을 결정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고객인식에 대한 모니터링의 사례에는 고객 설문조사, 인도된 제품 또는 서비스에 대한 고객 피드백, 고객과의 미팅, 시장점유율 분석, 고객의 칭찬, 보증 클레임, 그리고 판매업자 보고서가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9.1.3 분석 및 평가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모니터링 및 측정에서 나온 적절한 데이터와 정보를 분석하고, 평가한다.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분석의 결과는 다음 사항의 평가를 위하여 사용된다.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제품 및 서비스의 적합성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고객 만족도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품질경영시스템의 성과 및 효과성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기획의 효과적인 실행 여부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ⓔ 리스크와 기회를 다루기 위하여 취해진 조치의 효과성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ⓕ 외부공급자의 성과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ⓖ 품질경영시스템의 개선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데이터 분석 방법에는 통계적인 기법이 포함될 수 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04" name="Google Shape;304;p45"/>
          <p:cNvSpPr txBox="1"/>
          <p:nvPr/>
        </p:nvSpPr>
        <p:spPr>
          <a:xfrm>
            <a:off x="1714501" y="130827"/>
            <a:ext cx="34594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i="0" lang="ko-KR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제9장_성과평가</a:t>
            </a:r>
            <a:endParaRPr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(Performance evaluation)</a:t>
            </a:r>
            <a:endParaRPr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/>
          <p:nvPr/>
        </p:nvSpPr>
        <p:spPr>
          <a:xfrm>
            <a:off x="151312" y="955097"/>
            <a:ext cx="6535238" cy="6155047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9.2 내부심사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9.2.1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당사는 품질경영시스템이 다음 사항에 대한 정보를 제공하기 위하여, 계획된 주기로 내부심사를 수행한다.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다음 사항에 대한 적합성 여부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1)품질경영시스템에 대한 조직 자체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2)이 표준의 요구사항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품질경영시스템이 효과적으로 실행되고 유지되는지 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9.2.2 조직은 다음사항을 실행한다.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주기, 방법, 책임, 요구사항의 기획 및 보고를 포함하는, 심사 프로그램의 계획, 수립, 실행 및 유지 그리고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심사프로그램에는 관련 프로세스의 중요성, 조직에 영향을 미치는 변경, 그리고 이전심사 결과를 고려한다.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심사기준 및 개별 심사의 적용범위에 대한 규정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심사 프로세스의 객관성 및 공평성을 보장하기 위한 심사원 선정 및 심사 수행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심사결과가 관련 경영자에게 보고됨을 보장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ⓔ 과도한 지연 없이 적절한 시정 및 시정조치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ⓕ 심사 프로그램의 실행 및 심사결과의 증거로 문서화된 정보의 보유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가이던스로서 KS Q ISO 19011 참조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6"/>
          <p:cNvSpPr txBox="1"/>
          <p:nvPr/>
        </p:nvSpPr>
        <p:spPr>
          <a:xfrm>
            <a:off x="1714501" y="130827"/>
            <a:ext cx="34594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i="0" lang="ko-KR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제9장_성과평가</a:t>
            </a:r>
            <a:endParaRPr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(Performance evaluation)</a:t>
            </a:r>
            <a:endParaRPr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/>
          <p:nvPr/>
        </p:nvSpPr>
        <p:spPr>
          <a:xfrm>
            <a:off x="151312" y="955097"/>
            <a:ext cx="6535238" cy="770162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9.3 경영검토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9.3.1 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최고경영자는 조직의 전략적 방향에 대한 품질경영시스템의 지속적인 적절성, 충족성, 효과성 및 정렬성을 보장하기 위하여 계획된 주기로 조직의 품질경영시스템을 검토한다.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9.3.2 경영검토 입력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경영검토는 다음 사항을 고려하여 계획되고 수행한다.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이전 경영검토에 따른 조치의 상태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품질경영시스템과 관련된 외부 및 내부 이슈의 변경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다음의 경향을 포함한 품질경영시스템의 성과 및 효과성에 대한 정보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1) 고객만족 및 관련 이해관계자로부터의 피드백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2) 품질목표의 달성 정도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3) 프로세스 성과, 그리고 제품 및 서비스의 적합성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4) 부적합 및 시정조치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5) 모니터링 및 측정 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6) 심사결과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7) 외부공급자의 성과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ⓓ 자원의 충족성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ⓔ 리스크와 기회를 다루기 위하여 취해진 조치의 효과성(6.1 참조)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ⓕ 개선 기회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9.3.3 경영 검토 출력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경영검토의 출력사항에는 다음 사항과 관련된 결정과 조치사항을 포함한다.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개선 기회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품질경영시스템 변경에 대한 모든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자원의 필요성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경영검토 결과의 증거로, 문서화된 정보를 보유한다.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7"/>
          <p:cNvSpPr txBox="1"/>
          <p:nvPr/>
        </p:nvSpPr>
        <p:spPr>
          <a:xfrm>
            <a:off x="1714501" y="130827"/>
            <a:ext cx="34594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i="0" lang="ko-KR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제9장_성과평가</a:t>
            </a:r>
            <a:endParaRPr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ko-K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(Performance evaluation)</a:t>
            </a:r>
            <a:endParaRPr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/>
          <p:nvPr/>
        </p:nvSpPr>
        <p:spPr>
          <a:xfrm>
            <a:off x="151312" y="955097"/>
            <a:ext cx="6535238" cy="7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10.1 일반사항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개선 기회를 결정하고 선택 하며, 고객 요구사항을 충족시키고 고객만족을 증진시키기 위하여 필요한 모든 조치를 실행한다.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조치에는 다음 사항을 포함한다.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요구사항을 충족시키기 위한 것뿐만 아니라, 미래의 니즈와 기대를 다루기 위한 제품 및 서비스의 개선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시정, 예방 또는 바람직하지 않는 영향의 감소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ⓒ 품질경영시스템의 성과 및 효과성 개선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비고)  개선의 사례에는 시정, 시정조치, 지속적 개선, 획기적인 변화, 혁신 및 조직 개편이 포함될 수 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10.2 부적합 및 시정조치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10.2.1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불만족에서 야기된 모든 것을 포함하여 부적합이 발생하였을 때, 당사는 다음사항을 실행한다.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ⓐ 부적합에 대처 하며 해당되는 경우, 다음 사항을 포함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1)부적합을 관리하고 시정하기 위한 조치를 취함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2)결과를 처리함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ⓑ 부적합이 재발하거나 다른 곳에서 발생하지 않게 하기 위해서, 부적합의 원인을 제거하기 위한 조치의 필요성을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다음사항에 의하여 평가한다.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1)부적합의 검토와 분석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2)부적합 원인의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3)유사한 부적합의 존재 여부 또는 잠재적인 발생 여부 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ⓒ 필요한 모든 조치의 실행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ⓓ 취해진 모든 시정조치의 효과성 검토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ⓔ 필요한 경우, 기획 시 결정된 리스크와 기회의 갱신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ⓕ 필요한 경우, 품질경영시스템의 변경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시정조치는 직면한 부적합의 영향에 적절한 효과성이 있어야 한다.</a:t>
            </a:r>
            <a:endParaRPr/>
          </a:p>
        </p:txBody>
      </p:sp>
      <p:sp>
        <p:nvSpPr>
          <p:cNvPr id="322" name="Google Shape;322;p48"/>
          <p:cNvSpPr txBox="1"/>
          <p:nvPr/>
        </p:nvSpPr>
        <p:spPr>
          <a:xfrm>
            <a:off x="1706880" y="106680"/>
            <a:ext cx="34747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b="1"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제10장_개선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(Improvement)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/>
          <p:nvPr/>
        </p:nvSpPr>
        <p:spPr>
          <a:xfrm>
            <a:off x="151312" y="955097"/>
            <a:ext cx="6535238" cy="2900309"/>
          </a:xfrm>
          <a:prstGeom prst="rect">
            <a:avLst/>
          </a:prstGeom>
          <a:noFill/>
          <a:ln>
            <a:noFill/>
          </a:ln>
        </p:spPr>
        <p:txBody>
          <a:bodyPr anchorCtr="0" anchor="t" bIns="26925" lIns="53875" spcFirstLastPara="1" rIns="53875" wrap="square" tIns="2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10.2.2 당사는 다음 사항의 증거로, 문서화된 정보를 보유 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ⓐ 부적합의 성질 및 취해진 모든 후속조치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ⓑ 모든 시정조치의 결과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10.3 지속적 개선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품질경영시스템의 적절성, 충족성 및 효과성을 지속적으로 개선한다.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당사는 지속적 개선의 일부로서 다루어야 할 니즈 또는 기회가 있는지를 결정하기 위하여, 분석 및 평가의 결과, 그리고 경영검토의 출력사항을 고려한다.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28" name="Google Shape;328;p49"/>
          <p:cNvSpPr txBox="1"/>
          <p:nvPr/>
        </p:nvSpPr>
        <p:spPr>
          <a:xfrm>
            <a:off x="1706880" y="106680"/>
            <a:ext cx="34747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ko-KR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제10장_개선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(Improvement)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/>
        </p:nvSpPr>
        <p:spPr>
          <a:xfrm>
            <a:off x="1707085" y="231038"/>
            <a:ext cx="3482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제F장_프로세스 상호 식별관계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p50"/>
          <p:cNvGraphicFramePr/>
          <p:nvPr/>
        </p:nvGraphicFramePr>
        <p:xfrm>
          <a:off x="119743" y="1218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{D2B35DE3-16E4-4932-8729-AB3533D58345}</a:tableStyleId>
              </a:tblPr>
              <a:tblGrid>
                <a:gridCol w="642250"/>
                <a:gridCol w="1529950"/>
                <a:gridCol w="1075050"/>
                <a:gridCol w="1756100"/>
                <a:gridCol w="15957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오너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절차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218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COP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 관리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개발팀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 변경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초도품 양산 승인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제품승인관리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CTQ 관리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QC 공정도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구매 업무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구매팀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구매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 공급자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부품승인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생산 관리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제조팀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4M 변경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공정관리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비상사태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식별 및 추적성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자재 관리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치공구 관리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 표준서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비상사태 대응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제품 보존 및 인도 관리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영업팀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제품 보존 및 인도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고객 만족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영업팀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 만족도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MP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경영관리 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관리팀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 심사 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경영검토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조직 및 업무 분장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리스크 관리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SWOT 분석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 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지속적 개선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3정5S 운영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제안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SP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설비 보전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제조팀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설비 관리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문서화된 정보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관리팀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문서화된 정보 관리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파일링 시스템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교육 훈련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관리팀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인적자원 관리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검사 업무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품질팀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 및 시험 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 계측기 및 시험장비</a:t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부적합 및 시정조치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50"/>
          <p:cNvSpPr txBox="1"/>
          <p:nvPr/>
        </p:nvSpPr>
        <p:spPr>
          <a:xfrm>
            <a:off x="205" y="900146"/>
            <a:ext cx="34821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Ⅰ. 프로세스 리스트</a:t>
            </a:r>
            <a:endParaRPr b="1" sz="14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/>
        </p:nvSpPr>
        <p:spPr>
          <a:xfrm>
            <a:off x="1707085" y="231038"/>
            <a:ext cx="3482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제F장_프로세스 상호 식별관계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1"/>
          <p:cNvSpPr/>
          <p:nvPr/>
        </p:nvSpPr>
        <p:spPr>
          <a:xfrm>
            <a:off x="36616" y="1030432"/>
            <a:ext cx="3429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※  주식회사엠에스티 프로세스 MAP</a:t>
            </a:r>
            <a:endParaRPr/>
          </a:p>
        </p:txBody>
      </p:sp>
      <p:pic>
        <p:nvPicPr>
          <p:cNvPr id="344" name="Google Shape;34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23410"/>
            <a:ext cx="6858000" cy="4259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/>
        </p:nvSpPr>
        <p:spPr>
          <a:xfrm>
            <a:off x="1692571" y="114926"/>
            <a:ext cx="3482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제G장_절차 vs CSR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/>
          </a:p>
        </p:txBody>
      </p:sp>
      <p:graphicFrame>
        <p:nvGraphicFramePr>
          <p:cNvPr id="351" name="Google Shape;351;p52"/>
          <p:cNvGraphicFramePr/>
          <p:nvPr/>
        </p:nvGraphicFramePr>
        <p:xfrm>
          <a:off x="133810" y="10285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{D2B35DE3-16E4-4932-8729-AB3533D58345}</a:tableStyleId>
              </a:tblPr>
              <a:tblGrid>
                <a:gridCol w="304750"/>
                <a:gridCol w="2754150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  <a:gridCol w="301225"/>
              </a:tblGrid>
              <a:tr h="320625"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ISO9001:2015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요구사항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3" hMerge="1"/>
                <a:tc gridSpan="11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20625">
                <a:tc gridSpan="2" vMerge="1"/>
                <a:tc hMerge="1" v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140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개발관리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구매</a:t>
                      </a:r>
                      <a:endParaRPr i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생산관리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제품 보존 및 인도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고객 만족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경영P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개선P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설비 보전</a:t>
                      </a:r>
                      <a:endParaRPr/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문서화 정보관리</a:t>
                      </a:r>
                      <a:endParaRPr/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교육훈련P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0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 조직의 상황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4.1. 조직 및 조직 상황의 이해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4.2. 이해 관계자의 요구 및 기대 이해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4.3. 품질경영시스템의 범위 결정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4.4. 품질경영시스템 및 품질경영시스템의 프로세스들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 리더십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5.1. 리더십 및 의지표명/실행의지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5.2. 방침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5.3. 조직 역할, 책임 및 권한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 기획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6.1. 리스크 및 기회를 다루기 위한 조치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6.2. 품질 목표 및 품질 목표를 달성하기 위한 기획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6.3. 변경의 기획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 지원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7.1. 자원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7.2. 역량/적격성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7.3. 인식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7.4. 의사소통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7.5. 문서화된 정보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 운용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8.1. 운용 기획 및 관리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8.2. 제품 및 서비스 요구사항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8.3. 제품 및 서비스의 설계와 개발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8.4. 외부에서 제공된 프로세스, 제품 및 서비스의 관리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8.5. 생산 및 서비스 제공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8.6. 제품 및 서비스의 불출/출시(RELEASE)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8.7. 부적합 출력/산출물의 관리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 성과평가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9.1. 모니터링, 측정, 분석 및 평가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9.2. 내부심사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9.3. 경영검토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 개선</a:t>
                      </a:r>
                      <a:endParaRPr/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10.1. 일반사항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10.2. 부적합 및 시정조치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7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 지속적 개선</a:t>
                      </a:r>
                      <a:endParaRPr/>
                    </a:p>
                  </a:txBody>
                  <a:tcPr marT="0" marB="0" marR="0" marL="72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000" marB="18000" marR="18000" marL="18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