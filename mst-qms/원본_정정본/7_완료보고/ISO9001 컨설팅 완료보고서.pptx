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90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CBFA968-DA1D-4BEB-92C4-D911F9014644}">
  <a:tblStyle styleId="{BCBFA968-DA1D-4BEB-92C4-D911F901464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1" name="Google Shape;21;p2"/>
          <p:cNvCxnSpPr/>
          <p:nvPr/>
        </p:nvCxnSpPr>
        <p:spPr>
          <a:xfrm>
            <a:off x="207034" y="635475"/>
            <a:ext cx="8229600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2" name="Google Shape;22;p2"/>
          <p:cNvCxnSpPr/>
          <p:nvPr/>
        </p:nvCxnSpPr>
        <p:spPr>
          <a:xfrm>
            <a:off x="8626415" y="635475"/>
            <a:ext cx="1178943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24235" y="141238"/>
            <a:ext cx="1121957" cy="375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>
  <p:cSld name="제목 및 내용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>
            <a:off x="0" y="1"/>
            <a:ext cx="9906000" cy="6858000"/>
          </a:xfrm>
          <a:prstGeom prst="rect">
            <a:avLst/>
          </a:prstGeom>
          <a:solidFill>
            <a:srgbClr val="222A35">
              <a:alpha val="8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0" y="1"/>
            <a:ext cx="9906000" cy="6858000"/>
          </a:xfrm>
          <a:prstGeom prst="rect">
            <a:avLst/>
          </a:prstGeom>
          <a:solidFill>
            <a:srgbClr val="222A35">
              <a:alpha val="8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" name="Google Shape;28;p4"/>
          <p:cNvCxnSpPr/>
          <p:nvPr/>
        </p:nvCxnSpPr>
        <p:spPr>
          <a:xfrm>
            <a:off x="249973" y="700079"/>
            <a:ext cx="7511276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9" name="Google Shape;29;p4"/>
          <p:cNvCxnSpPr/>
          <p:nvPr/>
        </p:nvCxnSpPr>
        <p:spPr>
          <a:xfrm>
            <a:off x="7961971" y="693915"/>
            <a:ext cx="1847385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2" type="body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3" type="body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7"/>
          <p:cNvSpPr txBox="1"/>
          <p:nvPr>
            <p:ph idx="4" type="body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" type="body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10"/>
          <p:cNvSpPr txBox="1"/>
          <p:nvPr>
            <p:ph idx="2" type="body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/>
          <p:nvPr>
            <p:ph idx="2" type="pic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1"/>
          <p:cNvSpPr txBox="1"/>
          <p:nvPr>
            <p:ph idx="1" type="body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2777332" y="-270668"/>
            <a:ext cx="4351338" cy="854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 rot="5400000">
            <a:off x="5251054" y="2203054"/>
            <a:ext cx="5811838" cy="21359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" type="body"/>
          </p:nvPr>
        </p:nvSpPr>
        <p:spPr>
          <a:xfrm rot="5400000">
            <a:off x="917179" y="128984"/>
            <a:ext cx="5811838" cy="6284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8313"/>
            <a:ext cx="1142907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>
            <p:ph type="ctrTitle"/>
          </p:nvPr>
        </p:nvSpPr>
        <p:spPr>
          <a:xfrm>
            <a:off x="260448" y="794478"/>
            <a:ext cx="10821209" cy="13536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14286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ISO9001:2015 컨설팅 완료보고서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00">
                <a:latin typeface="Calibri"/>
                <a:ea typeface="Calibri"/>
                <a:cs typeface="Calibri"/>
                <a:sym typeface="Calibri"/>
              </a:rPr>
              <a:t>[품질경영시스템]</a:t>
            </a:r>
            <a:endParaRPr i="1"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Google Shape;99;p15"/>
          <p:cNvCxnSpPr/>
          <p:nvPr/>
        </p:nvCxnSpPr>
        <p:spPr>
          <a:xfrm>
            <a:off x="207034" y="635475"/>
            <a:ext cx="8229600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00" name="Google Shape;100;p15"/>
          <p:cNvCxnSpPr/>
          <p:nvPr/>
        </p:nvCxnSpPr>
        <p:spPr>
          <a:xfrm>
            <a:off x="8626415" y="635475"/>
            <a:ext cx="1178943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1" name="Google Shape;101;p15"/>
          <p:cNvSpPr txBox="1"/>
          <p:nvPr>
            <p:ph type="ctrTitle"/>
          </p:nvPr>
        </p:nvSpPr>
        <p:spPr>
          <a:xfrm>
            <a:off x="159807" y="41103"/>
            <a:ext cx="9645551" cy="5253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ISO9001:2015 컨설팅/심사 주요 일정</a:t>
            </a:r>
            <a:endParaRPr i="1" sz="3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2" name="Google Shape;102;p15"/>
          <p:cNvGraphicFramePr/>
          <p:nvPr/>
        </p:nvGraphicFramePr>
        <p:xfrm>
          <a:off x="228077" y="7354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{BCBFA968-DA1D-4BEB-92C4-D911F9014644}</a:tableStyleId>
              </a:tblPr>
              <a:tblGrid>
                <a:gridCol w="558300"/>
                <a:gridCol w="665075"/>
                <a:gridCol w="1317125"/>
                <a:gridCol w="309850"/>
                <a:gridCol w="309850"/>
                <a:gridCol w="309850"/>
                <a:gridCol w="309850"/>
                <a:gridCol w="309850"/>
                <a:gridCol w="309850"/>
                <a:gridCol w="309850"/>
                <a:gridCol w="309850"/>
                <a:gridCol w="309850"/>
                <a:gridCol w="309850"/>
                <a:gridCol w="309850"/>
                <a:gridCol w="309850"/>
                <a:gridCol w="309850"/>
                <a:gridCol w="309850"/>
                <a:gridCol w="309850"/>
                <a:gridCol w="309850"/>
                <a:gridCol w="309850"/>
                <a:gridCol w="309850"/>
                <a:gridCol w="309850"/>
                <a:gridCol w="1083475"/>
              </a:tblGrid>
              <a:tr h="208475">
                <a:tc gridSpan="3"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Activities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 rowSpan="2" hMerge="1"/>
                <a:tc rowSpan="2"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b="1" sz="105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b="1" sz="105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b="1" sz="105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b="1" sz="105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b="1" sz="105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b="1" sz="105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b="1" sz="105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</a:t>
                      </a:r>
                      <a:endParaRPr b="1" sz="105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</a:t>
                      </a:r>
                      <a:endParaRPr b="1" sz="105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</a:t>
                      </a:r>
                      <a:endParaRPr b="1" sz="105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 산출물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</a:tr>
              <a:tr h="220025">
                <a:tc gridSpan="3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(화)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18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(화)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25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(화)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(목)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(수)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14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(수)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28</a:t>
                      </a:r>
                      <a:b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(수)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04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(수)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Malgun Gothic"/>
                        <a:buNone/>
                      </a:pPr>
                      <a:r>
                        <a:rPr b="0" i="0" lang="en-US" sz="7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03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Malgun Gothic"/>
                        <a:buNone/>
                      </a:pPr>
                      <a:r>
                        <a:rPr b="0" i="0" lang="en-US" sz="7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(수)</a:t>
                      </a:r>
                      <a:endParaRPr b="0" i="0" sz="7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 vMerge="1"/>
                <a:tc vMerge="1"/>
                <a:tc vMerge="1"/>
                <a:tc vMerge="1"/>
                <a:tc vMerge="1"/>
                <a:tc vMerge="1"/>
              </a:tr>
              <a:tr h="727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주일정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873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컨설팅 일정 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방문/심사 일정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275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1차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교육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873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품질경영시스템 요구사항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19"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ISO9001:2015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교육 교안 및 Test</a:t>
                      </a:r>
                      <a:endParaRPr sz="7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275">
                <a:tc vMerge="1"/>
                <a:tc gridSpan="2">
                  <a:txBody>
                    <a:bodyPr/>
                    <a:lstStyle/>
                    <a:p>
                      <a:pPr indent="0" lvl="0" marL="873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ISO19011 심사 스킬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19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vMerge="1"/>
              </a:tr>
              <a:tr h="246275">
                <a:tc vMerge="1"/>
                <a:tc rowSpan="2">
                  <a:txBody>
                    <a:bodyPr/>
                    <a:lstStyle/>
                    <a:p>
                      <a:pPr indent="0" lvl="0" marL="873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핵심문서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873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이해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73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통계적 공정관리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19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vMerge="1"/>
              </a:tr>
              <a:tr h="246275">
                <a:tc vMerge="1"/>
                <a:tc vMerge="1"/>
                <a:tc>
                  <a:txBody>
                    <a:bodyPr/>
                    <a:lstStyle/>
                    <a:p>
                      <a:pPr indent="0" lvl="0" marL="873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측정시스템분석 이해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19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vMerge="1"/>
              </a:tr>
              <a:tr h="233950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2차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진단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873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고객 점검 평가서 해석 및 수준 진단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19"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프로세스 맵 </a:t>
                      </a:r>
                      <a:endParaRPr sz="7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 체계표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3950">
                <a:tc vMerge="1"/>
                <a:tc gridSpan="2">
                  <a:txBody>
                    <a:bodyPr/>
                    <a:lstStyle/>
                    <a:p>
                      <a:pPr indent="0" lvl="0" marL="873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기업 운영 양식 수집 및 운영 진단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19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vMerge="1"/>
              </a:tr>
              <a:tr h="233950">
                <a:tc vMerge="1"/>
                <a:tc gridSpan="2">
                  <a:txBody>
                    <a:bodyPr/>
                    <a:lstStyle/>
                    <a:p>
                      <a:pPr indent="0" lvl="0" marL="873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업무 범위 파악 및  프로세스맵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19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vMerge="1"/>
              </a:tr>
              <a:tr h="251000">
                <a:tc row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3차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(COP)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873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 관리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19" row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5" hMerge="1"/>
                <a:tc rowSpan="5" hMerge="1"/>
                <a:tc rowSpan="5" hMerge="1"/>
                <a:tc rowSpan="5" hMerge="1"/>
                <a:tc rowSpan="5" hMerge="1"/>
                <a:tc rowSpan="5" hMerge="1"/>
                <a:tc rowSpan="5" hMerge="1"/>
                <a:tc rowSpan="5" hMerge="1"/>
                <a:tc rowSpan="5" hMerge="1"/>
                <a:tc rowSpan="5" hMerge="1"/>
                <a:tc rowSpan="5" hMerge="1"/>
                <a:tc rowSpan="5" hMerge="1"/>
                <a:tc rowSpan="5" hMerge="1"/>
                <a:tc rowSpan="5" hMerge="1"/>
                <a:tc rowSpan="5" hMerge="1"/>
                <a:tc rowSpan="5" hMerge="1"/>
                <a:tc rowSpan="5" hMerge="1"/>
                <a:tc rowSpan="5" hMerge="1"/>
                <a:tc row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Malgun Gothic"/>
                        <a:buNone/>
                      </a:pPr>
                      <a:r>
                        <a:rPr b="0" lang="en-US" sz="7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COP 문서 구축</a:t>
                      </a:r>
                      <a:br>
                        <a:rPr b="0" lang="en-US" sz="7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br>
                        <a:rPr b="0" lang="en-US" sz="7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lang="en-US" sz="6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(프로세스,절차,지침,양식)</a:t>
                      </a:r>
                      <a:endParaRPr b="0" sz="6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000">
                <a:tc vMerge="1"/>
                <a:tc gridSpan="2">
                  <a:txBody>
                    <a:bodyPr/>
                    <a:lstStyle/>
                    <a:p>
                      <a:pPr indent="0" lvl="0" marL="873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구매 관리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19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vMerge="1"/>
              </a:tr>
              <a:tr h="251000">
                <a:tc vMerge="1"/>
                <a:tc gridSpan="2">
                  <a:txBody>
                    <a:bodyPr/>
                    <a:lstStyle/>
                    <a:p>
                      <a:pPr indent="0" lvl="0" marL="873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생산 관리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19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vMerge="1"/>
              </a:tr>
              <a:tr h="251000">
                <a:tc vMerge="1"/>
                <a:tc gridSpan="2">
                  <a:txBody>
                    <a:bodyPr/>
                    <a:lstStyle/>
                    <a:p>
                      <a:pPr indent="0" lvl="0" marL="873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인도 관리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19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vMerge="1"/>
              </a:tr>
              <a:tr h="251000">
                <a:tc vMerge="1"/>
                <a:tc gridSpan="2">
                  <a:txBody>
                    <a:bodyPr/>
                    <a:lstStyle/>
                    <a:p>
                      <a:pPr indent="0" lvl="0" marL="873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고객 만족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19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vMerge="1"/>
              </a:tr>
              <a:tr h="1961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4차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(MP)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873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경영 관리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19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 hMerge="1"/>
                <a:tc rowSpan="2" hMerge="1"/>
                <a:tc rowSpan="2" hMerge="1"/>
                <a:tc rowSpan="2" hMerge="1"/>
                <a:tc rowSpan="2" hMerge="1"/>
                <a:tc rowSpan="2" hMerge="1"/>
                <a:tc rowSpan="2" hMerge="1"/>
                <a:tc rowSpan="2" hMerge="1"/>
                <a:tc rowSpan="2" hMerge="1"/>
                <a:tc rowSpan="2" hMerge="1"/>
                <a:tc rowSpan="2" hMerge="1"/>
                <a:tc rowSpan="2" hMerge="1"/>
                <a:tc rowSpan="2" hMerge="1"/>
                <a:tc rowSpan="2" hMerge="1"/>
                <a:tc rowSpan="2" hMerge="1"/>
                <a:tc rowSpan="2" hMerge="1"/>
                <a:tc rowSpan="2" hMerge="1"/>
                <a:tc rowSpan="2"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Malgun Gothic"/>
                        <a:buNone/>
                      </a:pPr>
                      <a:r>
                        <a:rPr b="0" lang="en-US" sz="7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MP 문서 구축</a:t>
                      </a:r>
                      <a:br>
                        <a:rPr b="0" lang="en-US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br>
                        <a:rPr b="0" lang="en-US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lang="en-US" sz="6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(프로세스,절차,지침,양식)</a:t>
                      </a:r>
                      <a:endParaRPr b="0" sz="6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6125">
                <a:tc vMerge="1"/>
                <a:tc gridSpan="2">
                  <a:txBody>
                    <a:bodyPr/>
                    <a:lstStyle/>
                    <a:p>
                      <a:pPr indent="0" lvl="0" marL="873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개선 관리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19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vMerge="1"/>
              </a:tr>
              <a:tr h="196125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5차</a:t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(SP)</a:t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873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설비 보전 관리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19"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 hMerge="1"/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Malgun Gothic"/>
                        <a:buNone/>
                      </a:pPr>
                      <a:r>
                        <a:rPr b="0" lang="en-US" sz="7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SP 문서 구축</a:t>
                      </a:r>
                      <a:br>
                        <a:rPr b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br>
                        <a:rPr b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lang="en-US" sz="6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(프로세스,절차,지침,양식)</a:t>
                      </a:r>
                      <a:endParaRPr b="0" sz="6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6125">
                <a:tc vMerge="1"/>
                <a:tc gridSpan="2">
                  <a:txBody>
                    <a:bodyPr/>
                    <a:lstStyle/>
                    <a:p>
                      <a:pPr indent="0" lvl="0" marL="873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문서화된 정보 관리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19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vMerge="1"/>
              </a:tr>
              <a:tr h="196125">
                <a:tc vMerge="1"/>
                <a:tc gridSpan="2">
                  <a:txBody>
                    <a:bodyPr/>
                    <a:lstStyle/>
                    <a:p>
                      <a:pPr indent="0" lvl="0" marL="873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교육 훈련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19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vMerge="1"/>
              </a:tr>
              <a:tr h="196125">
                <a:tc vMerge="1"/>
                <a:tc gridSpan="2">
                  <a:txBody>
                    <a:bodyPr/>
                    <a:lstStyle/>
                    <a:p>
                      <a:pPr indent="0" lvl="0" marL="873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검사 업무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19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vMerge="1"/>
              </a:tr>
              <a:tr h="19612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6차 </a:t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(매뉴얼)</a:t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873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품질경영 매뉴얼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19"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 hMerge="1"/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품질경영 매뉴얼</a:t>
                      </a:r>
                      <a:endParaRPr sz="7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내부심사 체크시트</a:t>
                      </a:r>
                      <a:br>
                        <a:rPr lang="en-US" sz="7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핵심 성과지표 KPI</a:t>
                      </a:r>
                      <a:endParaRPr sz="7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6125">
                <a:tc vMerge="1"/>
                <a:tc gridSpan="2">
                  <a:txBody>
                    <a:bodyPr/>
                    <a:lstStyle/>
                    <a:p>
                      <a:pPr indent="0" lvl="0" marL="873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 심사 체크시트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19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vMerge="1"/>
              </a:tr>
              <a:tr h="196125">
                <a:tc vMerge="1"/>
                <a:tc gridSpan="2">
                  <a:txBody>
                    <a:bodyPr/>
                    <a:lstStyle/>
                    <a:p>
                      <a:pPr indent="0" lvl="0" marL="873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성과 지표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19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  <a:tc vMerge="1"/>
              </a:tr>
            </a:tbl>
          </a:graphicData>
        </a:graphic>
      </p:graphicFrame>
      <p:sp>
        <p:nvSpPr>
          <p:cNvPr id="103" name="Google Shape;103;p15"/>
          <p:cNvSpPr/>
          <p:nvPr/>
        </p:nvSpPr>
        <p:spPr>
          <a:xfrm>
            <a:off x="3161024" y="1309593"/>
            <a:ext cx="144069" cy="144069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3458008" y="1309593"/>
            <a:ext cx="144069" cy="144069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4385558" y="1309593"/>
            <a:ext cx="144069" cy="144069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5324579" y="1309593"/>
            <a:ext cx="144069" cy="144069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5931747" y="1309593"/>
            <a:ext cx="144069" cy="144069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6882919" y="1309593"/>
            <a:ext cx="144069" cy="144069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7499328" y="1312815"/>
            <a:ext cx="171938" cy="158004"/>
          </a:xfrm>
          <a:prstGeom prst="flowChartDecision">
            <a:avLst/>
          </a:prstGeom>
          <a:solidFill>
            <a:srgbClr val="FF0000"/>
          </a:solidFill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7804128" y="1312815"/>
            <a:ext cx="171938" cy="158004"/>
          </a:xfrm>
          <a:prstGeom prst="flowChartDecision">
            <a:avLst/>
          </a:prstGeom>
          <a:solidFill>
            <a:srgbClr val="FF0000"/>
          </a:solidFill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001064" y="1496742"/>
            <a:ext cx="46475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1차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(교육)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3305864" y="1496742"/>
            <a:ext cx="46475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2차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(진단)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4241229" y="1496742"/>
            <a:ext cx="46475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3차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(COP)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5162188" y="1496742"/>
            <a:ext cx="46475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4차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(SP)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5763973" y="1496742"/>
            <a:ext cx="46475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5차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(MP)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6629180" y="1496742"/>
            <a:ext cx="642302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6차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(매뉴얼)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7359316" y="1513899"/>
            <a:ext cx="46475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1단계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(심사)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7671930" y="1513899"/>
            <a:ext cx="46475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2단계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(심사)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3008120" y="2027824"/>
            <a:ext cx="115821" cy="70326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334637" y="1908523"/>
            <a:ext cx="2763380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품질경영시스템 1장~10장에 대한 요구사항 해설 및 이해 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3334637" y="2156804"/>
            <a:ext cx="2763380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심사 계획 수립 및 내부 심사 운영 방법 이해 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3334637" y="2399029"/>
            <a:ext cx="2763380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통계적 공정 관리 (SPC)에 대한 이해 및 사례 실습 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3334637" y="2647310"/>
            <a:ext cx="2763380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측정 시스템 분석을 통한 측정 방법 및 운영 사례 실습 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3293007" y="2941656"/>
            <a:ext cx="150008" cy="54638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582918" y="2883479"/>
            <a:ext cx="2292038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고객 요구 사항에 대한 품질경영시스템 반영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3582918" y="3119649"/>
            <a:ext cx="2292038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문서와 현업과의 일치성 확보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3582918" y="3355819"/>
            <a:ext cx="2292038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프로세스 맵 및 문서 체계표 작성 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3902607" y="3650110"/>
            <a:ext cx="135734" cy="109909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4190020" y="3848893"/>
            <a:ext cx="4316898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COP (Customer oriented Process) 고객 지향 프로세스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: 고객을 만나기전 ~ 고객을 만난 후까지 고객을 위해 존재 하는 프로세스 </a:t>
            </a:r>
            <a:b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COP 프로세스, 절차서, 지침서, 양식 구축 및 정렬성 확보 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4530760" y="4906417"/>
            <a:ext cx="101550" cy="27722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238425" y="5327836"/>
            <a:ext cx="120753" cy="64838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5802967" y="6083210"/>
            <a:ext cx="128706" cy="46866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4754563" y="4882562"/>
            <a:ext cx="3770302" cy="3385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MP (Management Process) 경영 프로세스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: 내부적 운영과 시스템을 관할하는 프로세스 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5501986" y="5431202"/>
            <a:ext cx="3124429" cy="3385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SP (Supporting Process) 지원 프로세스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: MP 와 COP를 지원하기 위한 프로세스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058578" y="6107064"/>
            <a:ext cx="2567838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품질경영시스템 매뉴얼 최종 확정 </a:t>
            </a:r>
            <a:b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내부 심사를 위한 준비 </a:t>
            </a:r>
            <a:b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각 프로세스의 핵심 성과 지표 구축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7124034" y="1852453"/>
            <a:ext cx="1360189" cy="20791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endParaRPr sz="7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endParaRPr sz="7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 txBox="1"/>
          <p:nvPr>
            <p:ph type="ctrTitle"/>
          </p:nvPr>
        </p:nvSpPr>
        <p:spPr>
          <a:xfrm>
            <a:off x="159807" y="41103"/>
            <a:ext cx="9645551" cy="5253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1.1 품질경영시스템 요구사항  </a:t>
            </a:r>
            <a:endParaRPr i="1" sz="3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0523" y="1025652"/>
            <a:ext cx="6524954" cy="5136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/>
          <p:nvPr>
            <p:ph type="ctrTitle"/>
          </p:nvPr>
        </p:nvSpPr>
        <p:spPr>
          <a:xfrm>
            <a:off x="159807" y="41103"/>
            <a:ext cx="9645551" cy="5253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1.2 프로세스적 접근 방법</a:t>
            </a:r>
            <a:endParaRPr i="1" sz="3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889" y="1400396"/>
            <a:ext cx="8114222" cy="4312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 txBox="1"/>
          <p:nvPr>
            <p:ph type="ctrTitle"/>
          </p:nvPr>
        </p:nvSpPr>
        <p:spPr>
          <a:xfrm>
            <a:off x="159807" y="41103"/>
            <a:ext cx="9645551" cy="5253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2. 품질경영시스템 구축 범위</a:t>
            </a:r>
            <a:endParaRPr/>
          </a:p>
        </p:txBody>
      </p:sp>
      <p:pic>
        <p:nvPicPr>
          <p:cNvPr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916" y="902143"/>
            <a:ext cx="8650841" cy="5372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 txBox="1"/>
          <p:nvPr>
            <p:ph type="ctrTitle"/>
          </p:nvPr>
        </p:nvSpPr>
        <p:spPr>
          <a:xfrm>
            <a:off x="159807" y="41103"/>
            <a:ext cx="9645551" cy="5253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3. 문서 체계표 </a:t>
            </a:r>
            <a:endParaRPr/>
          </a:p>
        </p:txBody>
      </p:sp>
      <p:pic>
        <p:nvPicPr>
          <p:cNvPr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779" y="761560"/>
            <a:ext cx="9325678" cy="2289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389" y="3140423"/>
            <a:ext cx="9307067" cy="3570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>
            <p:ph type="ctrTitle"/>
          </p:nvPr>
        </p:nvSpPr>
        <p:spPr>
          <a:xfrm>
            <a:off x="159807" y="41103"/>
            <a:ext cx="9645551" cy="5253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3. 문서 체계표 </a:t>
            </a:r>
            <a:endParaRPr/>
          </a:p>
        </p:txBody>
      </p:sp>
      <p:pic>
        <p:nvPicPr>
          <p:cNvPr id="167" name="Google Shape;1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277" y="789307"/>
            <a:ext cx="9236385" cy="2156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>
            <p:ph type="ctrTitle"/>
          </p:nvPr>
        </p:nvSpPr>
        <p:spPr>
          <a:xfrm>
            <a:off x="159807" y="41103"/>
            <a:ext cx="9645551" cy="5253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4. 프로세스 KPI 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447" y="810028"/>
            <a:ext cx="9335105" cy="4580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type="ctrTitle"/>
          </p:nvPr>
        </p:nvSpPr>
        <p:spPr>
          <a:xfrm>
            <a:off x="159807" y="41103"/>
            <a:ext cx="9645551" cy="5253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5. ISO 9001 품질경영시스템 과 구축 프로세스</a:t>
            </a:r>
            <a:endParaRPr/>
          </a:p>
        </p:txBody>
      </p:sp>
      <p:pic>
        <p:nvPicPr>
          <p:cNvPr id="179" name="Google Shape;17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8597" y="752884"/>
            <a:ext cx="6653170" cy="5936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/>
          <p:nvPr>
            <p:ph type="ctrTitle"/>
          </p:nvPr>
        </p:nvSpPr>
        <p:spPr>
          <a:xfrm>
            <a:off x="159807" y="41103"/>
            <a:ext cx="9645551" cy="5253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6. 품질경영 매뉴얼</a:t>
            </a:r>
            <a:endParaRPr/>
          </a:p>
        </p:txBody>
      </p:sp>
      <p:pic>
        <p:nvPicPr>
          <p:cNvPr id="186" name="Google Shape;18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516" y="707922"/>
            <a:ext cx="2814899" cy="4144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7238" y="1081547"/>
            <a:ext cx="2893473" cy="4144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0851" y="1749093"/>
            <a:ext cx="3042743" cy="4399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0403" y="2211210"/>
            <a:ext cx="3144955" cy="4604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 txBox="1"/>
          <p:nvPr>
            <p:ph type="ctrTitle"/>
          </p:nvPr>
        </p:nvSpPr>
        <p:spPr>
          <a:xfrm>
            <a:off x="159807" y="41103"/>
            <a:ext cx="9645551" cy="5253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7. 프로세스/절차/지침/양식 </a:t>
            </a:r>
            <a:endParaRPr/>
          </a:p>
        </p:txBody>
      </p:sp>
      <p:sp>
        <p:nvSpPr>
          <p:cNvPr id="195" name="Google Shape;195;p24"/>
          <p:cNvSpPr txBox="1"/>
          <p:nvPr/>
        </p:nvSpPr>
        <p:spPr>
          <a:xfrm>
            <a:off x="1251284" y="4054637"/>
            <a:ext cx="11079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프로세스</a:t>
            </a:r>
            <a:endParaRPr/>
          </a:p>
        </p:txBody>
      </p:sp>
      <p:sp>
        <p:nvSpPr>
          <p:cNvPr id="196" name="Google Shape;196;p24"/>
          <p:cNvSpPr txBox="1"/>
          <p:nvPr/>
        </p:nvSpPr>
        <p:spPr>
          <a:xfrm>
            <a:off x="3206152" y="5172231"/>
            <a:ext cx="8771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절차서</a:t>
            </a:r>
            <a:endParaRPr/>
          </a:p>
        </p:txBody>
      </p:sp>
      <p:sp>
        <p:nvSpPr>
          <p:cNvPr id="197" name="Google Shape;197;p24"/>
          <p:cNvSpPr txBox="1"/>
          <p:nvPr/>
        </p:nvSpPr>
        <p:spPr>
          <a:xfrm>
            <a:off x="5030662" y="5748447"/>
            <a:ext cx="8771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지침서</a:t>
            </a:r>
            <a:endParaRPr/>
          </a:p>
        </p:txBody>
      </p:sp>
      <p:sp>
        <p:nvSpPr>
          <p:cNvPr id="198" name="Google Shape;198;p24"/>
          <p:cNvSpPr txBox="1"/>
          <p:nvPr/>
        </p:nvSpPr>
        <p:spPr>
          <a:xfrm>
            <a:off x="7330138" y="6311759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양식</a:t>
            </a:r>
            <a:endParaRPr/>
          </a:p>
        </p:txBody>
      </p:sp>
      <p:pic>
        <p:nvPicPr>
          <p:cNvPr id="199" name="Google Shape;19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881" y="714226"/>
            <a:ext cx="3474420" cy="2327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1084" y="1452256"/>
            <a:ext cx="2836741" cy="371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60242" y="1878100"/>
            <a:ext cx="2701673" cy="4026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73737" y="2303944"/>
            <a:ext cx="2789967" cy="402675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4"/>
          <p:cNvSpPr/>
          <p:nvPr/>
        </p:nvSpPr>
        <p:spPr>
          <a:xfrm rot="1817512">
            <a:off x="5895439" y="1541215"/>
            <a:ext cx="3360834" cy="673769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2F2F2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319" y="1021506"/>
            <a:ext cx="8937523" cy="433019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5"/>
          <p:cNvSpPr txBox="1"/>
          <p:nvPr>
            <p:ph type="ctrTitle"/>
          </p:nvPr>
        </p:nvSpPr>
        <p:spPr>
          <a:xfrm>
            <a:off x="159807" y="41103"/>
            <a:ext cx="9645551" cy="5253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8. 내부심사 체크시트</a:t>
            </a:r>
            <a:endParaRPr/>
          </a:p>
        </p:txBody>
      </p:sp>
      <p:sp>
        <p:nvSpPr>
          <p:cNvPr id="210" name="Google Shape;210;p25"/>
          <p:cNvSpPr/>
          <p:nvPr/>
        </p:nvSpPr>
        <p:spPr>
          <a:xfrm>
            <a:off x="401319" y="1120219"/>
            <a:ext cx="1081793" cy="4745322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5"/>
          <p:cNvSpPr/>
          <p:nvPr/>
        </p:nvSpPr>
        <p:spPr>
          <a:xfrm>
            <a:off x="1483111" y="1120219"/>
            <a:ext cx="4783873" cy="4745322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5"/>
          <p:cNvSpPr txBox="1"/>
          <p:nvPr/>
        </p:nvSpPr>
        <p:spPr>
          <a:xfrm>
            <a:off x="2424607" y="5381817"/>
            <a:ext cx="2292038" cy="3231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SSQ 평가 시트</a:t>
            </a:r>
            <a:endParaRPr/>
          </a:p>
        </p:txBody>
      </p:sp>
      <p:sp>
        <p:nvSpPr>
          <p:cNvPr id="213" name="Google Shape;213;p25"/>
          <p:cNvSpPr txBox="1"/>
          <p:nvPr/>
        </p:nvSpPr>
        <p:spPr>
          <a:xfrm>
            <a:off x="456530" y="5243317"/>
            <a:ext cx="972047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ISO9001 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구축문서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5"/>
          <p:cNvSpPr/>
          <p:nvPr/>
        </p:nvSpPr>
        <p:spPr>
          <a:xfrm rot="-1626807">
            <a:off x="5814606" y="3840713"/>
            <a:ext cx="3360834" cy="673769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2F2F2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5"/>
          <p:cNvSpPr txBox="1"/>
          <p:nvPr/>
        </p:nvSpPr>
        <p:spPr>
          <a:xfrm>
            <a:off x="6468210" y="4466513"/>
            <a:ext cx="2773366" cy="553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ISO9001:2015 품질경영시스템 기준 점검 후 대책 수립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>
            <p:ph type="ctrTitle"/>
          </p:nvPr>
        </p:nvSpPr>
        <p:spPr>
          <a:xfrm>
            <a:off x="159807" y="41103"/>
            <a:ext cx="9645551" cy="5253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9. 향후 일정 관리</a:t>
            </a:r>
            <a:endParaRPr/>
          </a:p>
        </p:txBody>
      </p:sp>
      <p:graphicFrame>
        <p:nvGraphicFramePr>
          <p:cNvPr id="221" name="Google Shape;221;p26"/>
          <p:cNvGraphicFramePr/>
          <p:nvPr/>
        </p:nvGraphicFramePr>
        <p:xfrm>
          <a:off x="227009" y="8263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{BCBFA968-DA1D-4BEB-92C4-D911F9014644}</a:tableStyleId>
              </a:tblPr>
              <a:tblGrid>
                <a:gridCol w="587325"/>
                <a:gridCol w="2085275"/>
                <a:gridCol w="325975"/>
                <a:gridCol w="325975"/>
                <a:gridCol w="325975"/>
                <a:gridCol w="325975"/>
                <a:gridCol w="325975"/>
                <a:gridCol w="325975"/>
                <a:gridCol w="325975"/>
                <a:gridCol w="325975"/>
                <a:gridCol w="325975"/>
                <a:gridCol w="325975"/>
                <a:gridCol w="325975"/>
                <a:gridCol w="325975"/>
                <a:gridCol w="325975"/>
                <a:gridCol w="325975"/>
                <a:gridCol w="325975"/>
                <a:gridCol w="325975"/>
                <a:gridCol w="325975"/>
                <a:gridCol w="1139825"/>
              </a:tblGrid>
              <a:tr h="208475"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Activities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 rowSpan="2"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b="1" sz="105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b="1" sz="105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b="1" sz="105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</a:t>
                      </a:r>
                      <a:endParaRPr b="1" sz="105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 hMerge="1"/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</a:t>
                      </a:r>
                      <a:endParaRPr b="1" sz="105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</a:t>
                      </a:r>
                      <a:endParaRPr b="1" sz="105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 산출물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</a:tr>
              <a:tr h="220025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1w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2w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3w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4w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5w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6w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7w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8w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9w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10w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11w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12w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13w</a:t>
                      </a:r>
                      <a:endParaRPr sz="7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Malgun Gothic"/>
                        <a:buNone/>
                      </a:pPr>
                      <a:r>
                        <a:rPr b="0" i="0" lang="en-US" sz="7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14w</a:t>
                      </a:r>
                      <a:endParaRPr b="0" i="0" sz="7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Malgun Gothic"/>
                        <a:buNone/>
                      </a:pPr>
                      <a:r>
                        <a:rPr b="0" i="0" lang="en-US" sz="7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15w</a:t>
                      </a:r>
                      <a:endParaRPr b="0" i="0" sz="7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 vMerge="1"/>
                <a:tc vMerge="1"/>
                <a:tc vMerge="1"/>
              </a:tr>
              <a:tr h="727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주일정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73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점검 일정 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점검 및 심사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2" name="Google Shape;222;p26"/>
          <p:cNvSpPr/>
          <p:nvPr/>
        </p:nvSpPr>
        <p:spPr>
          <a:xfrm>
            <a:off x="5904208" y="1414415"/>
            <a:ext cx="171938" cy="158004"/>
          </a:xfrm>
          <a:prstGeom prst="flowChartDecision">
            <a:avLst/>
          </a:prstGeom>
          <a:solidFill>
            <a:srgbClr val="FF0000"/>
          </a:solidFill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7213650" y="1414415"/>
            <a:ext cx="171938" cy="158004"/>
          </a:xfrm>
          <a:prstGeom prst="flowChartDecision">
            <a:avLst/>
          </a:prstGeom>
          <a:solidFill>
            <a:srgbClr val="FF0000"/>
          </a:solidFill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6"/>
          <p:cNvSpPr txBox="1"/>
          <p:nvPr/>
        </p:nvSpPr>
        <p:spPr>
          <a:xfrm>
            <a:off x="5764196" y="1615499"/>
            <a:ext cx="46475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1단계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(심사)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6"/>
          <p:cNvSpPr txBox="1"/>
          <p:nvPr/>
        </p:nvSpPr>
        <p:spPr>
          <a:xfrm>
            <a:off x="7081452" y="1615499"/>
            <a:ext cx="46475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2단계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(심사)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6"/>
          <p:cNvSpPr/>
          <p:nvPr/>
        </p:nvSpPr>
        <p:spPr>
          <a:xfrm>
            <a:off x="3962649" y="1443739"/>
            <a:ext cx="144069" cy="144069"/>
          </a:xfrm>
          <a:prstGeom prst="ellipse">
            <a:avLst/>
          </a:prstGeom>
          <a:noFill/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6"/>
          <p:cNvSpPr txBox="1"/>
          <p:nvPr/>
        </p:nvSpPr>
        <p:spPr>
          <a:xfrm>
            <a:off x="3708910" y="1630888"/>
            <a:ext cx="64230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1차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줌회의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6"/>
          <p:cNvSpPr/>
          <p:nvPr/>
        </p:nvSpPr>
        <p:spPr>
          <a:xfrm>
            <a:off x="4953202" y="1433579"/>
            <a:ext cx="144069" cy="144069"/>
          </a:xfrm>
          <a:prstGeom prst="ellipse">
            <a:avLst/>
          </a:prstGeom>
          <a:noFill/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6"/>
          <p:cNvSpPr txBox="1"/>
          <p:nvPr/>
        </p:nvSpPr>
        <p:spPr>
          <a:xfrm>
            <a:off x="4699463" y="1620728"/>
            <a:ext cx="64230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2차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줌회의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6"/>
          <p:cNvSpPr/>
          <p:nvPr/>
        </p:nvSpPr>
        <p:spPr>
          <a:xfrm>
            <a:off x="5570057" y="1443739"/>
            <a:ext cx="144069" cy="144069"/>
          </a:xfrm>
          <a:prstGeom prst="ellipse">
            <a:avLst/>
          </a:prstGeom>
          <a:noFill/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6"/>
          <p:cNvSpPr txBox="1"/>
          <p:nvPr/>
        </p:nvSpPr>
        <p:spPr>
          <a:xfrm>
            <a:off x="5316318" y="1630888"/>
            <a:ext cx="64230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내부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심사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6"/>
          <p:cNvSpPr/>
          <p:nvPr/>
        </p:nvSpPr>
        <p:spPr>
          <a:xfrm>
            <a:off x="8167542" y="1414415"/>
            <a:ext cx="171938" cy="158004"/>
          </a:xfrm>
          <a:prstGeom prst="flowChartDecision">
            <a:avLst/>
          </a:prstGeom>
          <a:solidFill>
            <a:srgbClr val="FF0000"/>
          </a:solidFill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6"/>
          <p:cNvSpPr txBox="1"/>
          <p:nvPr/>
        </p:nvSpPr>
        <p:spPr>
          <a:xfrm>
            <a:off x="8035344" y="1615499"/>
            <a:ext cx="46475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고객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심사</a:t>
            </a:r>
            <a:endParaRPr/>
          </a:p>
        </p:txBody>
      </p:sp>
      <p:pic>
        <p:nvPicPr>
          <p:cNvPr id="234" name="Google Shape;2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7258" y="2160497"/>
            <a:ext cx="5873378" cy="396599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6"/>
          <p:cNvSpPr/>
          <p:nvPr/>
        </p:nvSpPr>
        <p:spPr>
          <a:xfrm>
            <a:off x="1788160" y="2160497"/>
            <a:ext cx="4551680" cy="4524783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6"/>
          <p:cNvSpPr/>
          <p:nvPr/>
        </p:nvSpPr>
        <p:spPr>
          <a:xfrm>
            <a:off x="6339840" y="2160497"/>
            <a:ext cx="1598902" cy="4524783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6"/>
          <p:cNvSpPr txBox="1"/>
          <p:nvPr/>
        </p:nvSpPr>
        <p:spPr>
          <a:xfrm>
            <a:off x="3205193" y="6197036"/>
            <a:ext cx="2292038" cy="3231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SSQ 평가 시트</a:t>
            </a:r>
            <a:endParaRPr/>
          </a:p>
        </p:txBody>
      </p:sp>
      <p:sp>
        <p:nvSpPr>
          <p:cNvPr id="238" name="Google Shape;238;p26"/>
          <p:cNvSpPr txBox="1"/>
          <p:nvPr/>
        </p:nvSpPr>
        <p:spPr>
          <a:xfrm>
            <a:off x="6359666" y="6186876"/>
            <a:ext cx="1565493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 구축 문서 준수시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100% 만족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/>
          <p:cNvSpPr txBox="1"/>
          <p:nvPr>
            <p:ph type="ctrTitle"/>
          </p:nvPr>
        </p:nvSpPr>
        <p:spPr>
          <a:xfrm>
            <a:off x="159807" y="41103"/>
            <a:ext cx="9645551" cy="5253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10. 기타 (1일차 품질경영시스템 교육)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149" y="1098018"/>
            <a:ext cx="5262309" cy="3558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18547" y="2974728"/>
            <a:ext cx="5193632" cy="3362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/>
          <p:nvPr>
            <p:ph type="ctrTitle"/>
          </p:nvPr>
        </p:nvSpPr>
        <p:spPr>
          <a:xfrm>
            <a:off x="159807" y="41103"/>
            <a:ext cx="9645551" cy="5253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11. 마무리</a:t>
            </a:r>
            <a:endParaRPr/>
          </a:p>
        </p:txBody>
      </p:sp>
      <p:pic>
        <p:nvPicPr>
          <p:cNvPr id="251" name="Google Shape;251;p28"/>
          <p:cNvPicPr preferRelativeResize="0"/>
          <p:nvPr/>
        </p:nvPicPr>
        <p:blipFill rotWithShape="1">
          <a:blip r:embed="rId3">
            <a:alphaModFix/>
          </a:blip>
          <a:srcRect b="10763" l="0" r="0" t="17290"/>
          <a:stretch/>
        </p:blipFill>
        <p:spPr>
          <a:xfrm>
            <a:off x="2798956" y="847492"/>
            <a:ext cx="3936381" cy="4997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